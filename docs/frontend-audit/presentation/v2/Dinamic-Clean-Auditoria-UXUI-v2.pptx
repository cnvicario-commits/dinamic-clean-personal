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la portada. Qué importa: esta presentación muestra lo que encontramos al recorrer la aplicación real. Qué proponemos: ordenar cómo crece Dinamic Clean, sin perder ninguna función.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cuatro pasos de trabajo. Por qué importa: todo se apoya en pantallas reales, no en opiniones. Qué proponemos: leer el resto de la presentación con esta convención de colores: coral = problema hoy, ámbar = impacto, verde azulado = propuesta.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los módulos que ya cubre la aplicación. Por qué importa: la propuesta no cuestiona que el sistema sirve; parte de ahí. Qué proponemos: conservar cada función y ordenar dónde vive.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una pantalla simple que, etapa tras etapa, suma filtros, formularios y acciones. Por qué importa: cada necesidad nueva fue razonable, pero juntas compiten por atención. Qué proponemos: dar a cada función un lugar propio.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cinco cifras medidas en la aplicación. Por qué importa: son cosas que la persona tiene que mirar o decidir si ignorar. Qué proponemos: ayudar a encontrar antes que obligar a recorrer. Datos tomados en el ambiente de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tres patrones que se repiten en varios módulos. Por qué importa: explican la mayor parte de lo que vimos. Qué proponemos: ninguno se resuelve agregando funciones; se resuelve ordenando.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una cuenta visual por pantalla: columnas, campos, botones, bloques, filtros. Por qué importa: cada número es algo que la persona debe mirar o decidir ignorar antes de hacer su tarea. Qué proponemos: ver, módulo por módulo, cómo repartir esa carga.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en el listado de Ventas, al escribir «limpieza» el listado se reduce a 8 resultados. Por qué importa: la persona puede creer que ve todas las oportunidades cuando está viendo solo las 50 que ya estaban cargadas. Qué proponemos: que el filtro consulte siempre todas las oportunidades y que lo diga con claridad.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la lista de 113 clientes; al buscar «banco» quedan 2. Por qué importa: si se pagina antes de buscar, la persona recorre páginas que no necesita. Qué proponemos: primero encontrar el resultado correcto y después decidir cuánto mostrar.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el listado de oportunidades con siete destinos en el menú, cuatro filtros, exportación y dieciséis columnas. Por qué importa: antes de leer una sola oportunidad la persona ya procesó mucho. Qué proponemos: columnas clave en la lista, el resto en la ficha.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el Tablero abre con un bloque de 71 novedades, luego filtros y botones, y recién después el Kanban de cuatro columnas. Por qué importa: la persona atraviesa otra capa completa antes de llegar al trabajo comercial. Qué proponemos: no quitar las novedades, sino separar seguimiento, alertas y trabajo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a la izquierda, todo conectado en una sola pantalla. A la derecha, la misma lista de funciones repartida en espacios con un propósito. Por qué importa: cambiar una función hoy puede afectar otras que viven en la misma pantalla. Qué proponemos: Ventas se organiza en Trabajo, Agenda, Leads y Facturación; «Nueva oportunidad» pasa a ser una acción dentro del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arriba un formulario de ocho campos, luego el buscador y debajo 113 clientes. Por qué importa: quien solo quiere buscar ve primero un formulario de alta, y quien quiere crear ve una lista. Qué proponemos: un listado para encontrar y una pantalla propia para crear.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un formulario de alta, búsqueda y filtros arriba, y debajo 265 empleados con «Dar de baja» repetido en cada fila. Por qué importa: la información secundaria compite con la tarea principal, que es encontrar a una persona. Qué proponemos: búsqueda y filtros claros, detalle fuera de la tabla y acciones secundarias en un menú. Nombres y CUIL de la captura están reemplazados.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el formulario de pedido muestra todo el catálogo, con dos campos por cada artículo. Por qué importa: el objetivo real es pedir pocos productos, pero la pantalla pone todo el catálogo delante. Qué proponemos: buscar y agregar solo las líneas del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registrar una novedad, bajar dos reportes, ver el listado, exportar y paginar, todo en una misma página. Por qué importa: tareas con propósitos distintos compiten por atención. Qué proponemos: separar registrar, reportar y consultar. En este ambiente el listado de novedades está vacío.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en el ranking de auditorías, la columna Fecha muestra «Invalid Date» en cuatro filas. Por qué importa: baja la confianza en lo que se ve y cuesta leer el historial. Qué proponemos: no es que el sistema esté roto; es un ejemplo visible de por qué necesitamos ordenar cómo cada módulo presenta y valida la información.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cinco indicadores, cuatro estados de planificación, un ranking y una tabla de conformidad por ítem en la misma pantalla. Por qué importa: la persona no sabe por dónde empezar. Qué proponemos: partir de la decisión que debe tomar y mostrar primero 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ocho planificaciones con fechas «Invalid Date» y las acciones Cargar auditoría, Editar y Cancelar a la vista, cortadas en el borde derecho. Por qué importa: la tabla hace tres trabajos a la vez. Qué proponemos: una tabla corta para encontrar y una ficha para actuar. Sitio y domicilio de la captura están difuminados.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una función no es un problema; el problema aparece cuando funciones distintas se mezclan en un mismo lugar. Por qué importa: eso cambia la conversación, porque no proponemos quitar nada. Qué proponemos: ordenar, no recortar.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cinco espacios, cada uno con una sola tarea. Por qué importa: cuando una pantalla tiene un propósito claro, la persona sabe qué hacer. Qué proponemos: Lista para encontrar, Ficha para entender, Editar para cambiar, Reporte para analizar y Dashboard para decidir.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a la izquierda, siete piezas conectadas entre sí; a la derecha, las mismas piezas con relaciones claras. Por qué importa: un cambio chico en un sistema enredado toca muchos lugares. Qué proponemos: cada parte con un propósito claro, pero conectada con las demás.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Clientes y Empleados hacen lo mismo (crear, buscar, listar, accionar) pero lo ordenan distinto. Por qué importa: quien aprende un módulo no puede reutilizar lo aprendido. Qué proponemos: un patrón único: Listado, Ficha, Nuevo y Editar.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a la izquierda la pantalla real de Clientes; a la derecha una propuesta ilustrativa. Por qué importa: muestra el mismo contenido repartido por tareas. Qué proponemos: listado para encontrar, pantalla propia para crear y ficha para ver el detalle. La propuesta es un diseño ilustrativo, no una pantalla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el listado real con dieciséis columnas frente a una propuesta con columnas clave. Por qué importa: la lista sirve para encontrar, no para leerlo todo. Qué proponemos: columnas clave, selector Kanban o Lista, y «Nueva oportunidad» como acción dentro del trabajo. Propuesta ilustrativa.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el formulario real con 460 artículos frente a una propuesta con líneas del pedido. Por qué importa: el objetivo es pedir pocos productos. Qué proponemos: buscar y agregar artículos al pedido. Propuesta ilustrativa.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la pantalla real con seis tareas frente a una propuesta con tres espacios. Por qué importa: la persona suele hacer una tarea por vez. Qué proponemos: pestañas Registrar, Reportes y Listado. Esquema ilustrativo.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el ingreso real, con el menú lateral vacío y el botón Cerrar sesión visibles antes de entrar, frente a una propuesta de ingreso a pantalla completa y un inicio con accesos por área. Por qué importa: es lo primero que ve cada persona. Qué proponemos: ingreso simple y un inicio que lleve a cada área. Esquema ilustrativo.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cinco beneficios para la persona que usa la aplicación. Por qué importa: el objetivo es que cada tarea sea más clara, no que haya más funciones. Qué proponemos: medir estos beneficios con tareas reales antes de decidir.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a la izquierda, agregar algo hoy exige entender una pantalla con muchas responsabilidades; a la derecha, cada función nueva tiene un lugar definido. Por qué importa: baja el costo de cambiar y de capacitar. Qué proponemos: mantenimiento más simple, capacitación más corta, consistencia, evolución ordenada y menor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cuatro pasos para avanzar de a poco. Por qué importa: cada módulo se puede validar antes de pasar al siguiente. Qué proponemos: elegir un módulo piloto, por ejemplo Clientes, validarlo con quienes lo usan y replicar el patrón. Los plazos se definen en conjunto.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veo: el cierre. Por qué importa: las propuestas son ilustrativas y deben probarse con quienes usan cada módulo. Qué proponemos: mostrar las propuestas, probarlas con tareas reales y decidir juntos qué se ordena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8-1.mp4"/><Relationship Id="rId2" Type="http://schemas.microsoft.com/office/2007/relationships/media" Target="../media/media-8-1.mp4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video" Target="../media/media-13-2.mp4"/><Relationship Id="rId3" Type="http://schemas.microsoft.com/office/2007/relationships/media" Target="../media/media-13-2.mp4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video" Target="../media/media-15-2.mp4"/><Relationship Id="rId3" Type="http://schemas.microsoft.com/office/2007/relationships/media" Target="../media/media-15-2.mp4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video" Target="../media/media-16-2.mp4"/><Relationship Id="rId3" Type="http://schemas.microsoft.com/office/2007/relationships/media" Target="../media/media-16-2.mp4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8-1.mp4"/><Relationship Id="rId2" Type="http://schemas.microsoft.com/office/2007/relationships/media" Target="../media/media-28-1.mp4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UX/UI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297180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Funciona. Creció agregando necesidades dentro de las mismas pantallas. Proponemos separar responsabilidades sin perder funcionalidades.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4892040"/>
            <a:ext cx="7315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encontramos · por qué importa · cómo ordenarlo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217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Octubre 2026</a:t>
            </a:r>
            <a:endParaRPr lang="en-US" sz="1100" dirty="0"/>
          </a:p>
        </p:txBody>
      </p:sp>
      <p:pic>
        <p:nvPicPr>
          <p:cNvPr id="11" name="Image 0" descr="Captura de pantalla: ven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188720"/>
            <a:ext cx="5212080" cy="32575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92240" y="1188720"/>
            <a:ext cx="5212080" cy="32575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40549" y="1738884"/>
            <a:ext cx="4198620" cy="260604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285101" y="158343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749790" y="2057400"/>
            <a:ext cx="1188720" cy="246888"/>
          </a:xfrm>
          <a:prstGeom prst="roundRect">
            <a:avLst>
              <a:gd name="adj" fmla="val 18519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columnas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92240" y="45720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real del listado de Ventas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HICIMOS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Recorrimos la aplicación como la usa una persona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2651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600200"/>
            <a:ext cx="2651760" cy="64008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8580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Recorrimos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5800" y="3108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módulo, en la aplicación real y en un ambiente de pruebas.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91840" y="1600200"/>
            <a:ext cx="2651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600200"/>
            <a:ext cx="2651760" cy="64008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044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352044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Contamos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520440" y="3108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Columnas, campos, botones y bloques que una persona ve a la vez.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26480" y="1600200"/>
            <a:ext cx="2651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1600200"/>
            <a:ext cx="2651760" cy="64008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635508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Grabamos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355080" y="3108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recorridos cortos para ver el problema en movimiento.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961120" y="1600200"/>
            <a:ext cx="26517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61120" y="160020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8972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918972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Propusimos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9189720" y="3108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Diseños ilustrativos para mostrar la dirección, no pantallas finales.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leer los colores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48463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057400" y="4846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pasa hoy en pantalla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480560" y="484632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577840" y="4846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consecuencia tiene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503920" y="484632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784080" y="4846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proponemos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7200" y="5486400"/>
            <a:ext cx="1127455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00" y="5486400"/>
            <a:ext cx="82296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1520" y="548640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se hizo en un ambiente de pruebas. No se modificó ninguna pantalla ni ningún dato.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funciona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Resuelve necesidades reales de la operación, en un mismo lugar.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971800" y="233172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0" y="233172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320040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71800" y="320040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0" y="320040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y Calidad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4069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RRHH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971800" y="4069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86400" y="4069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229600" y="2331720"/>
            <a:ext cx="82296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0392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módulo tiene un propósito claro de negocio.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503920" y="2788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Ventas, compras, RRHH y auditoría ya tienen su lugar en el menú.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29600" y="3520440"/>
            <a:ext cx="82296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0392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funciones existen.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50392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Buscar, crear, editar, exportar y reportar ya están resueltos.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229600" y="4709160"/>
            <a:ext cx="82296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03920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hay que ordenar es otra cosa.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503920" y="5166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presentan juntas dentro de cada pantalla.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5394960"/>
            <a:ext cx="7589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5394960"/>
            <a:ext cx="82296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539496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de lo que hoy funciona se pierde.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LLEGAMOS ACÁ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fue creciendo dentro de las mismas pantallas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2468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828800"/>
            <a:ext cx="822960" cy="8229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2057400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91640" y="2057400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249424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91640" y="2249424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2441448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91640" y="2441448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2633472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91640" y="2633472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825496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691640" y="2825496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3017520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91640" y="3017520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3209544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91640" y="3209544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" y="3401568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91640" y="3401568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4360" y="3593592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91640" y="3593592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3785616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91640" y="3785616"/>
            <a:ext cx="104241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Una lista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2999232" y="2834640"/>
            <a:ext cx="265176" cy="914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337560" y="1691640"/>
            <a:ext cx="2468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1828800"/>
            <a:ext cx="822960" cy="8229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057400"/>
            <a:ext cx="502920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059936" y="2057400"/>
            <a:ext cx="502920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45152" y="2057400"/>
            <a:ext cx="502920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230368" y="2057400"/>
            <a:ext cx="502920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474720" y="2331720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206240" y="2331720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937760" y="2331720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474720" y="2523744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06240" y="2523744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937760" y="2523744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474720" y="2715768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206240" y="2715768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937760" y="2715768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474720" y="2907792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06240" y="2907792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937760" y="2907792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474720" y="3099816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206240" y="3099816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937760" y="3099816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474720" y="3291840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206240" y="3291840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937760" y="3291840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474720" y="3483864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206240" y="3483864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937760" y="3483864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474720" y="3675888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206240" y="3675888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937760" y="3675888"/>
            <a:ext cx="67665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33756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+ filtros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5879592" y="2834640"/>
            <a:ext cx="265176" cy="914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63" name="Shape 60"/>
          <p:cNvSpPr/>
          <p:nvPr/>
        </p:nvSpPr>
        <p:spPr>
          <a:xfrm>
            <a:off x="6217920" y="1691640"/>
            <a:ext cx="2468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355080" y="1828800"/>
            <a:ext cx="822960" cy="8229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6355080" y="2057400"/>
            <a:ext cx="685800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132320" y="2057400"/>
            <a:ext cx="685800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7909560" y="2057400"/>
            <a:ext cx="685800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355080" y="2350008"/>
            <a:ext cx="502920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940296" y="2350008"/>
            <a:ext cx="502920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525512" y="2350008"/>
            <a:ext cx="502920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110728" y="2350008"/>
            <a:ext cx="502920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355080" y="2624328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903720" y="2624328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452360" y="2624328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001000" y="2624328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355080" y="2816352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903720" y="2816352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452360" y="2816352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001000" y="2816352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6355080" y="3008376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903720" y="3008376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452360" y="3008376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001000" y="3008376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6355080" y="3200400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6903720" y="3200400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7452360" y="3200400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8001000" y="3200400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6355080" y="3392424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903720" y="3392424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452360" y="3392424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8001000" y="3392424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6355080" y="3584448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6903720" y="3584448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7452360" y="3584448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8001000" y="3584448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6355080" y="3776472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903720" y="3776472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7452360" y="3776472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8001000" y="3776472"/>
            <a:ext cx="493776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621792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+ formulario de alta</a:t>
            </a:r>
            <a:endParaRPr lang="en-US" sz="1300" dirty="0"/>
          </a:p>
        </p:txBody>
      </p:sp>
      <p:sp>
        <p:nvSpPr>
          <p:cNvPr id="101" name="Shape 98"/>
          <p:cNvSpPr/>
          <p:nvPr/>
        </p:nvSpPr>
        <p:spPr>
          <a:xfrm>
            <a:off x="8759952" y="2834640"/>
            <a:ext cx="265176" cy="914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02" name="Shape 99"/>
          <p:cNvSpPr/>
          <p:nvPr/>
        </p:nvSpPr>
        <p:spPr>
          <a:xfrm>
            <a:off x="9098280" y="1691640"/>
            <a:ext cx="2468880" cy="2331720"/>
          </a:xfrm>
          <a:prstGeom prst="rect">
            <a:avLst/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9235440" y="1828800"/>
            <a:ext cx="822960" cy="82296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9235440" y="2057400"/>
            <a:ext cx="685800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012680" y="2057400"/>
            <a:ext cx="685800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10789920" y="2057400"/>
            <a:ext cx="685800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9235440" y="2350008"/>
            <a:ext cx="502920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9820656" y="2350008"/>
            <a:ext cx="502920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10405872" y="2350008"/>
            <a:ext cx="502920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10991088" y="2350008"/>
            <a:ext cx="502920" cy="16459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9235440" y="2624328"/>
            <a:ext cx="640080" cy="182880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9966960" y="2624328"/>
            <a:ext cx="640080" cy="182880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0698480" y="2624328"/>
            <a:ext cx="640080" cy="182880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9235440" y="2916936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9674352" y="2916936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0113264" y="2916936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10552176" y="2916936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10991088" y="2916936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9235440" y="3108960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9674352" y="3108960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0113264" y="3108960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10552176" y="3108960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10991088" y="3108960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9235440" y="3300984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9674352" y="3300984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10113264" y="3300984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10552176" y="3300984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10991088" y="3300984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9235440" y="3493008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9674352" y="3493008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10113264" y="3493008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0552176" y="3493008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10991088" y="3493008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9235440" y="3685032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9674352" y="3685032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10113264" y="3685032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10552176" y="3685032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10991088" y="3685032"/>
            <a:ext cx="384048" cy="6400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909828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+ reportes y acciones</a:t>
            </a:r>
            <a:endParaRPr lang="en-US" sz="1300" dirty="0"/>
          </a:p>
        </p:txBody>
      </p:sp>
      <p:sp>
        <p:nvSpPr>
          <p:cNvPr id="140" name="Text 137"/>
          <p:cNvSpPr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necesidad nueva se sumó dentro de la misma pantalla.</a:t>
            </a:r>
            <a:endParaRPr lang="en-US" sz="1600" dirty="0"/>
          </a:p>
        </p:txBody>
      </p:sp>
      <p:sp>
        <p:nvSpPr>
          <p:cNvPr id="141" name="Shape 138"/>
          <p:cNvSpPr/>
          <p:nvPr/>
        </p:nvSpPr>
        <p:spPr>
          <a:xfrm>
            <a:off x="457200" y="5212080"/>
            <a:ext cx="1127455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57200" y="5212080"/>
            <a:ext cx="82296" cy="868680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731520" y="521208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funciona, pero fue creciendo agregando necesidades dentro de las mismas pantallas y módulos.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APLICACIÓN HOY EN NÚMEROS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una persona encuentra en pantalla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737360"/>
            <a:ext cx="2148840" cy="64008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800" dirty="0"/>
          </a:p>
        </p:txBody>
      </p:sp>
      <p:sp>
        <p:nvSpPr>
          <p:cNvPr id="10" name="Text 7"/>
          <p:cNvSpPr/>
          <p:nvPr/>
        </p:nvSpPr>
        <p:spPr>
          <a:xfrm>
            <a:off x="6400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3520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listado de Ventas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0" y="173736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0" y="1737360"/>
            <a:ext cx="2148840" cy="64008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5800" dirty="0"/>
          </a:p>
        </p:txBody>
      </p:sp>
      <p:sp>
        <p:nvSpPr>
          <p:cNvPr id="15" name="Text 12"/>
          <p:cNvSpPr/>
          <p:nvPr/>
        </p:nvSpPr>
        <p:spPr>
          <a:xfrm>
            <a:off x="29260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926080" y="3520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cargadas a la vez en ese listado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0" y="173736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0" y="1737360"/>
            <a:ext cx="2148840" cy="64008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1208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5800" dirty="0"/>
          </a:p>
        </p:txBody>
      </p:sp>
      <p:sp>
        <p:nvSpPr>
          <p:cNvPr id="20" name="Text 17"/>
          <p:cNvSpPr/>
          <p:nvPr/>
        </p:nvSpPr>
        <p:spPr>
          <a:xfrm>
            <a:off x="52120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212080" y="3520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única lista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315200" y="173736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15200" y="1737360"/>
            <a:ext cx="2148840" cy="64008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9808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</a:t>
            </a:r>
            <a:endParaRPr lang="en-US" sz="5800" dirty="0"/>
          </a:p>
        </p:txBody>
      </p:sp>
      <p:sp>
        <p:nvSpPr>
          <p:cNvPr id="25" name="Text 22"/>
          <p:cNvSpPr/>
          <p:nvPr/>
        </p:nvSpPr>
        <p:spPr>
          <a:xfrm>
            <a:off x="74980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artículos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498080" y="3520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solo pedido de compra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601200" y="173736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601200" y="1737360"/>
            <a:ext cx="2148840" cy="64008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84080" y="2011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5800" dirty="0"/>
          </a:p>
        </p:txBody>
      </p:sp>
      <p:sp>
        <p:nvSpPr>
          <p:cNvPr id="30" name="Text 27"/>
          <p:cNvSpPr/>
          <p:nvPr/>
        </p:nvSpPr>
        <p:spPr>
          <a:xfrm>
            <a:off x="97840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novedades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9784080" y="3520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visibles antes del Kanban de Ventas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Cifras verificadas en la aplicación real, ambiente de pruebas.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7200" y="5394960"/>
            <a:ext cx="1127455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5394960"/>
            <a:ext cx="82296" cy="731520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31520" y="539496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son errores. Son señales de que cada pantalla carga más de lo que una persona puede abarcar de una vez.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LO ENCONTRADO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problemas principales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645920"/>
            <a:ext cx="3657600" cy="73152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1762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Demasiado a la vez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1520" y="3703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columnas, bloques y acciones compiten en una sola pantalla.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51960" y="164592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51960" y="1645920"/>
            <a:ext cx="3657600" cy="73152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9432" y="21762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26280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no siempre es buscar en todo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526280" y="3703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filtros actúan sobre lo que ya está cargado, no sobre todo.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46720" y="164592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46720" y="1645920"/>
            <a:ext cx="3657600" cy="73152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94192" y="21762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321040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módulo lo resuelve distinto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321040" y="3703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Crear, buscar, listar y editar cambian de forma de un módulo a otro.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5349240"/>
            <a:ext cx="82296" cy="731520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534924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 es falta de funcionalidad. Son problemas de orden.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 INFORMACIÓN RECIBE UNA PERSONA AL MISMO TIEMPO?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Contemos lo que hay en cada pantalla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1127455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508760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 de Ventas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017520" y="1545336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977640" y="1508760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destinos en el menú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93792" y="1545336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153912" y="1508760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70064" y="1545336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330184" y="1508760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546336" y="1545336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0506456" y="1508760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404872"/>
            <a:ext cx="1127455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2404872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de Ventas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017520" y="2441448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3977640" y="2404872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novedades arriba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93792" y="2441448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153912" y="2404872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 de Kanban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70064" y="2441448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8330184" y="2404872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de acción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46336" y="2441448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10506456" y="2404872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300984"/>
            <a:ext cx="1127455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3300984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017520" y="333756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3977640" y="3300984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de alta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93792" y="333756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6153912" y="3300984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370064" y="333756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8330184" y="3300984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filas por página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546336" y="3337560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000" dirty="0"/>
          </a:p>
        </p:txBody>
      </p:sp>
      <p:sp>
        <p:nvSpPr>
          <p:cNvPr id="36" name="Text 33"/>
          <p:cNvSpPr/>
          <p:nvPr/>
        </p:nvSpPr>
        <p:spPr>
          <a:xfrm>
            <a:off x="10506456" y="3300984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«Dar de baja»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7200" y="4197096"/>
            <a:ext cx="1127455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0080" y="4197096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Novedades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3017520" y="4233672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40" name="Text 37"/>
          <p:cNvSpPr/>
          <p:nvPr/>
        </p:nvSpPr>
        <p:spPr>
          <a:xfrm>
            <a:off x="3977640" y="4197096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en una pantalla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193792" y="4233672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42" name="Text 39"/>
          <p:cNvSpPr/>
          <p:nvPr/>
        </p:nvSpPr>
        <p:spPr>
          <a:xfrm>
            <a:off x="6153912" y="4197096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del formulario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370064" y="4233672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44" name="Text 41"/>
          <p:cNvSpPr/>
          <p:nvPr/>
        </p:nvSpPr>
        <p:spPr>
          <a:xfrm>
            <a:off x="8330184" y="4197096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de reporte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546336" y="4233672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46" name="Text 43"/>
          <p:cNvSpPr/>
          <p:nvPr/>
        </p:nvSpPr>
        <p:spPr>
          <a:xfrm>
            <a:off x="10506456" y="4197096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57200" y="5093208"/>
            <a:ext cx="1127455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0080" y="5093208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3017520" y="5129784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50" name="Text 47"/>
          <p:cNvSpPr/>
          <p:nvPr/>
        </p:nvSpPr>
        <p:spPr>
          <a:xfrm>
            <a:off x="3977640" y="5093208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de alta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193792" y="5129784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2" name="Text 49"/>
          <p:cNvSpPr/>
          <p:nvPr/>
        </p:nvSpPr>
        <p:spPr>
          <a:xfrm>
            <a:off x="6153912" y="5093208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buscador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7370064" y="5129784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54" name="Text 51"/>
          <p:cNvSpPr/>
          <p:nvPr/>
        </p:nvSpPr>
        <p:spPr>
          <a:xfrm>
            <a:off x="8330184" y="5093208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9546336" y="5129784"/>
            <a:ext cx="86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3000" dirty="0"/>
          </a:p>
        </p:txBody>
      </p:sp>
      <p:sp>
        <p:nvSpPr>
          <p:cNvPr id="56" name="Text 53"/>
          <p:cNvSpPr/>
          <p:nvPr/>
        </p:nvSpPr>
        <p:spPr>
          <a:xfrm>
            <a:off x="10506456" y="5093208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en la lista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457200" y="6035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 sobre capturas reales de la aplicación.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· BÚSQUEDA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en pantalla no es lo mismo que buscar en todo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6002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registros cargados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84832" y="2468880"/>
            <a:ext cx="310896" cy="914"/>
          </a:xfrm>
          <a:prstGeom prst="line">
            <a:avLst/>
          </a:prstGeom>
          <a:noFill/>
          <a:ln w="25400">
            <a:solidFill>
              <a:srgbClr val="E5484D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242316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actual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050792" y="2468880"/>
            <a:ext cx="310896" cy="914"/>
          </a:xfrm>
          <a:prstGeom prst="line">
            <a:avLst/>
          </a:prstGeom>
          <a:noFill/>
          <a:ln w="25400">
            <a:solidFill>
              <a:srgbClr val="E5484D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4389120" y="201168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resultados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se filtra lo que ya está en pantalla.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6118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402336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3F4F1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oportunidades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084832" y="4480560"/>
            <a:ext cx="310896" cy="91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2423160" y="402336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= María · Estado = Seguimiento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050792" y="4480560"/>
            <a:ext cx="310896" cy="91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4389120" y="402336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E3F4F1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correcto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filtro siempre busca en todo.</a:t>
            </a:r>
            <a:endParaRPr lang="en-US" sz="12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00800" y="1600200"/>
            <a:ext cx="5330952" cy="2998661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400800" y="1600200"/>
            <a:ext cx="5330952" cy="299866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00800" y="466344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1 · Escribir «limpieza» en el listado de Ventas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00800" y="4983480"/>
            <a:ext cx="5330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listado pasa a 8 resultados, dentro de las 50 oportunidades ya cargadas.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57200" y="5623560"/>
            <a:ext cx="11274552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57200" y="5623560"/>
            <a:ext cx="82296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31520" y="5623560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hay que saber dónde se busca. Recién después, cuánto se muestra.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· PAGINADO Y BÚSQUEDA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Paginar y buscar resuelven cosas distintas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24688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971800" y="2606040"/>
            <a:ext cx="320040" cy="914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37560" y="1737360"/>
            <a:ext cx="24688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3756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337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852160" y="2606040"/>
            <a:ext cx="320040" cy="914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217920" y="1737360"/>
            <a:ext cx="24688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621792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732520" y="2606040"/>
            <a:ext cx="320040" cy="914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098280" y="1737360"/>
            <a:ext cx="24688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9828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1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909828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7200" y="384048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Paginar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31520" y="4389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cuánto mostramos.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6245352" y="3840480"/>
            <a:ext cx="5486400" cy="1371600"/>
          </a:xfrm>
          <a:prstGeom prst="rect">
            <a:avLst/>
          </a:prstGeom>
          <a:solidFill>
            <a:srgbClr val="E3F4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19672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519672" y="4389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qué estamos buscando.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457200" y="5486400"/>
            <a:ext cx="1127455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7200" y="5486400"/>
            <a:ext cx="82296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" y="548640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encontramos el resultado correcto. Después decidimos cuánto mostrar.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· LISTADO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Ventas: muchas cosas compitiendo por atención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pic>
        <p:nvPicPr>
          <p:cNvPr id="7" name="Image 0" descr="Captura de pantalla: ven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7315200" cy="457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508760"/>
            <a:ext cx="7315200" cy="45720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58800" y="3144520"/>
            <a:ext cx="1016000" cy="150368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3352" y="2989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788160" y="1823720"/>
            <a:ext cx="4216400" cy="25400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632712" y="16682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939280" y="1833880"/>
            <a:ext cx="751840" cy="24384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783832" y="16784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788160" y="2280920"/>
            <a:ext cx="5892800" cy="36576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632712" y="2125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638800" y="2687320"/>
            <a:ext cx="1188720" cy="246888"/>
          </a:xfrm>
          <a:prstGeom prst="roundRect">
            <a:avLst>
              <a:gd name="adj" fmla="val 18519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columnas →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138160" y="172821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595360" y="16002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destinos en el menú de Ventas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138160" y="22951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595360" y="21671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filtros de búsqueda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138160" y="2862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595360" y="273405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a Excel siempre visible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138160" y="34290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595360" y="330098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columnas (siguen más allá del borde)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138160" y="40233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138160" y="4389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oportunidades cargadas a la vez.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8138160" y="4846320"/>
            <a:ext cx="359359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138160" y="4846320"/>
            <a:ext cx="82296" cy="1234440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412480" y="484632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módulo no tiene poca funcionalidad. Tiene demasiadas cosas compitiendo por atención.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· TABLERO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 trabajo principal hay otra capa de información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Image 0" descr="Captura de pantalla: tabl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709086" cy="4892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463040"/>
            <a:ext cx="4709086" cy="48920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96973" y="1876676"/>
            <a:ext cx="4621586" cy="145568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1525" y="17212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89018" y="3642583"/>
            <a:ext cx="4613631" cy="190909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3570" y="348713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89018" y="3928946"/>
            <a:ext cx="4613631" cy="2386361"/>
          </a:xfrm>
          <a:prstGeom prst="rect">
            <a:avLst/>
          </a:prstGeom>
          <a:solidFill>
            <a:srgbClr val="0D9488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3570" y="377349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94960" y="15087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394960" y="1920240"/>
            <a:ext cx="63093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05272" y="22128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72200" y="2011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Novedades (71)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172200" y="235915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y seguimiento, lo primero que se ve.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394960" y="2944368"/>
            <a:ext cx="63093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05272" y="32369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72200" y="30358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y botones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172200" y="33832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· Ver listado · Resumen ejecutivo · Nueva oportunidad.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394960" y="3968496"/>
            <a:ext cx="63093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605272" y="426110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172200" y="405993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de 4 columnas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6172200" y="44074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trabajo comercial, recién acá.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394960" y="5029200"/>
            <a:ext cx="6309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394960" y="5029200"/>
            <a:ext cx="82296" cy="731520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669280" y="50292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llegar al trabajo principal, el usuario atraviesa otra capa completa de información.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5394960" y="58978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675120" y="58704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información de seguimiento, alertas y trabajo comercial. Las novedades se mantienen.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· SEPARAR RESPONSABILIDADES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funciones siguen existiendo. Lo que cambia es dónde viven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54864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45352" y="1463040"/>
            <a:ext cx="54864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6002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28232" y="160020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3611880"/>
            <a:ext cx="1965960" cy="914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4590544" y="3611880"/>
            <a:ext cx="575816" cy="872881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3611880"/>
            <a:ext cx="1390144" cy="872881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3200400" y="4484761"/>
            <a:ext cx="1390144" cy="361559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3611880"/>
            <a:ext cx="914" cy="1234440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 flipV="1">
            <a:off x="1810256" y="4484761"/>
            <a:ext cx="1390144" cy="361559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1810256" y="3611880"/>
            <a:ext cx="1390144" cy="872881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H="1" flipV="1">
            <a:off x="1234440" y="3611880"/>
            <a:ext cx="575816" cy="872881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1234440" y="3611880"/>
            <a:ext cx="1965960" cy="914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1234440" y="2738999"/>
            <a:ext cx="575816" cy="872881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 flipV="1">
            <a:off x="1810256" y="2738999"/>
            <a:ext cx="1390144" cy="872881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1810256" y="2377440"/>
            <a:ext cx="1390144" cy="361559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H="1" flipV="1">
            <a:off x="3200400" y="2377440"/>
            <a:ext cx="0" cy="1234440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00400" y="2377440"/>
            <a:ext cx="1390144" cy="361559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3200400" y="2738999"/>
            <a:ext cx="1390144" cy="872881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90544" y="2738999"/>
            <a:ext cx="575816" cy="872881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H="1">
            <a:off x="1234440" y="3611880"/>
            <a:ext cx="3931920" cy="914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H="1" flipV="1">
            <a:off x="3200400" y="2377440"/>
            <a:ext cx="0" cy="2468880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H="1" flipV="1">
            <a:off x="1810256" y="2738999"/>
            <a:ext cx="2780287" cy="1745762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V="1">
            <a:off x="1810256" y="2738999"/>
            <a:ext cx="2780287" cy="1745762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0" y="3438144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Novedades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996184" y="4311025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606040" y="4672584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215896" y="4311025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0080" y="3438144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33016" y="2565263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oportunidad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2606040" y="2203704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996184" y="2565263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331720" y="3438144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FDECEC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· todo en uno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 flipV="1">
            <a:off x="7269480" y="2514600"/>
            <a:ext cx="1645920" cy="12344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7269480" y="3474720"/>
            <a:ext cx="1645920" cy="27432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269480" y="3749040"/>
            <a:ext cx="1645920" cy="68580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269480" y="3749040"/>
            <a:ext cx="1645920" cy="141732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V="1">
            <a:off x="8915400" y="2240280"/>
            <a:ext cx="1737360" cy="27432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915400" y="2514600"/>
            <a:ext cx="1737360" cy="13716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915400" y="2514600"/>
            <a:ext cx="1828800" cy="59436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675120" y="3575304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E3F4F1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229600" y="234086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3F4F1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229600" y="330098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8229600" y="426110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8229600" y="499262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Facturación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10218420" y="2066544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10218420" y="2478024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9966960" y="2935224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dash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Nueva oportunidad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64008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conectado con todo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6428232" y="5349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«Nueva oportunidad» es una acción dentro del trabajo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57200" y="5806440"/>
            <a:ext cx="82296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31520" y="58064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funciones siguen existiendo. Lo que cambia es dónde viven.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Crear, buscar y listar conviven en la misma pantalla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pic>
        <p:nvPicPr>
          <p:cNvPr id="7" name="Image 0" descr="Captura de pantalla: cli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6583680" cy="4114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508760"/>
            <a:ext cx="6583680" cy="4114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359152" y="1947672"/>
            <a:ext cx="3877056" cy="475488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203704" y="17922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354580" y="2564892"/>
            <a:ext cx="1764792" cy="18288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199132" y="24094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359152" y="2962656"/>
            <a:ext cx="3877056" cy="2660904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203704" y="28072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57150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011680" y="56875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Alta  ·  ② Búsqueda  ·  ③ Lista de 113 clientes</a:t>
            </a:r>
            <a:endParaRPr lang="en-US" sz="1200" dirty="0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1600200"/>
            <a:ext cx="4416552" cy="2484311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315200" y="1600200"/>
            <a:ext cx="4416552" cy="248431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315200" y="420624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2 · Funciones mezcladas en una misma pantalla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315200" y="4663440"/>
            <a:ext cx="441655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0" y="4663440"/>
            <a:ext cx="82296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589520" y="4663440"/>
            <a:ext cx="3959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tarea necesita su propio momento: encontrar, crear, editar.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RRHH · EMPLEADOS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lista extensa obliga a recorrer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pic>
        <p:nvPicPr>
          <p:cNvPr id="7" name="Image 0" descr="Captura de pantalla: emple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035040" cy="4191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463040"/>
            <a:ext cx="6035040" cy="41910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928241" y="1865376"/>
            <a:ext cx="4098798" cy="347853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772793" y="17099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928241" y="2334768"/>
            <a:ext cx="2711577" cy="372999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772793" y="21793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936623" y="2904744"/>
            <a:ext cx="4082034" cy="192786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781175" y="27492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369052" y="3122676"/>
            <a:ext cx="419100" cy="251460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13604" y="29672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928241" y="2770632"/>
            <a:ext cx="461010" cy="92202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271522" y="266128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812280" y="1463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812280" y="17922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269480" y="17830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de alta sobre la lista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812280" y="21214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269480" y="21122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y filtros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812280" y="24505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269480" y="24414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columnas con datos secundarios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812280" y="27797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269480" y="277063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«Dar de baja» repetido en cada fila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812280" y="31089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7269480" y="30998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265 empleados, 25 por página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812280" y="36118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812280" y="3931920"/>
            <a:ext cx="4919472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949440" y="4041648"/>
            <a:ext cx="2377440" cy="274320"/>
          </a:xfrm>
          <a:prstGeom prst="rect">
            <a:avLst>
              <a:gd name="adj" fmla="val 2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empleado…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9464040" y="4041648"/>
            <a:ext cx="713232" cy="274320"/>
          </a:xfrm>
          <a:prstGeom prst="rect">
            <a:avLst>
              <a:gd name="adj" fmla="val 2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▾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0213848" y="4041648"/>
            <a:ext cx="713232" cy="274320"/>
          </a:xfrm>
          <a:prstGeom prst="rect">
            <a:avLst>
              <a:gd name="adj" fmla="val 2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▾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0963656" y="4041648"/>
            <a:ext cx="713232" cy="274320"/>
          </a:xfrm>
          <a:prstGeom prst="rect">
            <a:avLst>
              <a:gd name="adj" fmla="val 2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▾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949440" y="4389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 resultados (ejemplo)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6949440" y="4663440"/>
            <a:ext cx="464515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995160" y="4700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 001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9921240" y="47000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ficha ›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11201400" y="47000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⋯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6949440" y="4992624"/>
            <a:ext cx="464515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995160" y="5029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 002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9921240" y="5029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ficha ›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11201400" y="50292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⋯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6949440" y="5321808"/>
            <a:ext cx="464515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995160" y="5358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 003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9921240" y="53583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ficha ›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11201400" y="535838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⋯</a:t>
            </a:r>
            <a:endParaRPr lang="en-US" sz="1400" dirty="0"/>
          </a:p>
        </p:txBody>
      </p:sp>
      <p:sp>
        <p:nvSpPr>
          <p:cNvPr id="49" name="Shape 45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57200" y="5943600"/>
            <a:ext cx="82296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731520" y="59436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una lista crece, necesitamos ayudar a encontrar, no obligar a recorrer.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 · NUEVO PEDIDO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pedir tres productos hay que pasar por 460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pic>
        <p:nvPicPr>
          <p:cNvPr id="7" name="Image 0" descr="Captura de pantalla: ped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303520" cy="40313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463040"/>
            <a:ext cx="5303520" cy="403139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73892" y="2063269"/>
            <a:ext cx="3798467" cy="79732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18444" y="190782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173892" y="2999448"/>
            <a:ext cx="1097434" cy="98545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165151" y="2893273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173892" y="3138307"/>
            <a:ext cx="3798467" cy="174694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18444" y="298285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821173" y="3429463"/>
            <a:ext cx="1075038" cy="2064969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65725" y="327401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55778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Datos del pedido  ② 460 artículos  ③ Buscador  ④ Dos campos por fila</a:t>
            </a:r>
            <a:endParaRPr lang="en-US" sz="1100" dirty="0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355080" y="1463040"/>
            <a:ext cx="5376672" cy="302437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355080" y="1463040"/>
            <a:ext cx="5376672" cy="302437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55080" y="4663440"/>
            <a:ext cx="2606040" cy="1051560"/>
          </a:xfrm>
          <a:prstGeom prst="rect">
            <a:avLst/>
          </a:prstGeom>
          <a:solidFill>
            <a:srgbClr val="E3F4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92240" y="4736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real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92240" y="5029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3 productos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9125712" y="4663440"/>
            <a:ext cx="2606040" cy="1051560"/>
          </a:xfrm>
          <a:prstGeom prst="rect">
            <a:avLst/>
          </a:prstGeom>
          <a:solidFill>
            <a:srgbClr val="FDECEC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262872" y="4736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actual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9262872" y="5029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 productos disponibles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57200" y="5852160"/>
            <a:ext cx="82296" cy="548640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31520" y="58521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 artículos × 2 campos por fila. La carga está en lo que se muestra, no en lo que se necesita.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RRHH · NOVEDADES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tareas comparten una única pantalla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pic>
        <p:nvPicPr>
          <p:cNvPr id="7" name="Image 0" descr="Captura de pantalla: noveda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590434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463040"/>
            <a:ext cx="4590434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77529" y="1835237"/>
            <a:ext cx="3287743" cy="2993087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22081" y="167978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108826" y="5107473"/>
            <a:ext cx="810305" cy="193853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817961" y="504895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108826" y="5355604"/>
            <a:ext cx="926616" cy="186099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34273" y="529320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077529" y="5743310"/>
            <a:ext cx="3287743" cy="348935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22081" y="558786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841870" y="5720047"/>
            <a:ext cx="523403" cy="147328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86422" y="556459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077529" y="6123261"/>
            <a:ext cx="3287743" cy="108558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22081" y="5967813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074920" y="1600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tareas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compiten por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atención.</a:t>
            </a:r>
            <a:endParaRPr lang="en-US" sz="2200" dirty="0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1508760"/>
            <a:ext cx="4416552" cy="2484311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315200" y="1508760"/>
            <a:ext cx="4416552" cy="248431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315200" y="406908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4 · Recorrido de la pantalla de Novedades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074920" y="4553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53212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novedad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458200" y="45537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91540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Bejerman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074920" y="51206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5532120" y="5093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horas extra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8458200" y="51206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8915400" y="5093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5074920" y="56875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5532120" y="56601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8458200" y="56875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8915400" y="56601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Paginación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5074920" y="4389120"/>
            <a:ext cx="665683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074920" y="617220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355080" y="6144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Registrar, reportar y consultar, cada uno en su lugar.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Y CALIDAD ·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dato incorrecto llega directamente a una pantalla operativa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pic>
        <p:nvPicPr>
          <p:cNvPr id="7" name="Image 0" descr="Captura de pantalla: d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6035040" cy="46101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508760"/>
            <a:ext cx="6035040" cy="46101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664208" y="3746754"/>
            <a:ext cx="532257" cy="884301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508760" y="359130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 flipV="1">
            <a:off x="2196465" y="1554480"/>
            <a:ext cx="4707255" cy="2192274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flipV="1">
            <a:off x="2196465" y="4331970"/>
            <a:ext cx="4707255" cy="299085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pic>
        <p:nvPicPr>
          <p:cNvPr id="13" name="Image 1" descr="Zoom: zoom-da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554480"/>
            <a:ext cx="2468880" cy="277749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903720" y="1554480"/>
            <a:ext cx="2468880" cy="277749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E5484D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646920" y="155448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9646920" y="1965960"/>
            <a:ext cx="2084832" cy="91440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756648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la confianza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756648" y="2496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 que muestra la pantalla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646920" y="3017520"/>
            <a:ext cx="2084832" cy="91440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756648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Cuesta leer el historial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756648" y="3547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auditorías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903720" y="4983480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Date × 4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903720" y="5394960"/>
            <a:ext cx="482803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903720" y="5394960"/>
            <a:ext cx="82296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178040" y="5394960"/>
            <a:ext cx="4370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ejemplo visible de por qué necesitamos ordenar cómo cada módulo presenta y valida la información.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Y CALIDAD ·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Indicadores, alertas, detalle y análisis en una sola pasada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pic>
        <p:nvPicPr>
          <p:cNvPr id="7" name="Image 0" descr="Captura de pantalla: d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400800" cy="48895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463040"/>
            <a:ext cx="6400800" cy="48895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737360" y="2258695"/>
            <a:ext cx="4907280" cy="591185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581912" y="210324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737360" y="3143250"/>
            <a:ext cx="4907280" cy="36449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581912" y="298780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737360" y="3792220"/>
            <a:ext cx="4907280" cy="100457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581912" y="36367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737360" y="5076825"/>
            <a:ext cx="4907280" cy="1275715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581912" y="492137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315200" y="15087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315200" y="19705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772400" y="1874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indicadores y alertas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15200" y="24734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77240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estados de planificación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315200" y="29763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772400" y="2880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de menor cumplimiento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315200" y="34792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772400" y="3383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 por ítem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7315200" y="4114800"/>
            <a:ext cx="4416552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589520" y="4251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que ordena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diseño: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589520" y="4846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decisión tiene que tomar el usuario en esta pantalla?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Y CALIDAD · PLANIFICACIÓN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tabla intenta ser listado, detalle y panel de acciones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pic>
        <p:nvPicPr>
          <p:cNvPr id="7" name="Image 0" descr="Captura de pantalla: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035040" cy="4191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463040"/>
            <a:ext cx="6035040" cy="41910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936623" y="2250948"/>
            <a:ext cx="4090416" cy="255651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781175" y="20955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537585" y="2657475"/>
            <a:ext cx="419100" cy="293370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2137" y="250202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109210" y="4752975"/>
            <a:ext cx="942975" cy="58674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53762" y="459752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223760" y="15087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223760" y="19705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680960" y="1874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columnas en una sola tabla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223760" y="24734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680960" y="2377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«Invalid Date» en las fechas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223760" y="29763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680960" y="2880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auditoría · Editar · Cancelar a la vista, cortadas en el borde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7223760" y="365760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223760" y="3977640"/>
            <a:ext cx="20116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33488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corta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333488" y="4343400"/>
            <a:ext cx="1792224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333488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· Fecha · Estado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7333488" y="4709160"/>
            <a:ext cx="1792224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333488" y="4736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· Fecha · Estado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7333488" y="5074920"/>
            <a:ext cx="1792224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333488" y="5102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· Fecha · Estado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9281160" y="4846320"/>
            <a:ext cx="365760" cy="914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9692640" y="3977640"/>
            <a:ext cx="20116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802368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9802368" y="43159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la planificación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9802368" y="4754880"/>
            <a:ext cx="1097280" cy="256032"/>
          </a:xfrm>
          <a:prstGeom prst="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auditoría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9802368" y="5056632"/>
            <a:ext cx="1097280" cy="256032"/>
          </a:xfrm>
          <a:prstGeom prst="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9802368" y="5358384"/>
            <a:ext cx="1097280" cy="256032"/>
          </a:xfrm>
          <a:prstGeom prst="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Cancelar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57200" y="5852160"/>
            <a:ext cx="1127455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57200" y="5852160"/>
            <a:ext cx="82296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31520" y="585216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tabla para encontrar. Una ficha para actuar.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CENTRAL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no es la cantidad de funciones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E3F4F1"/>
          </a:solidFill>
          <a:ln w="254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794760" y="164592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663440" y="164592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FDECEC"/>
          </a:solidFill>
          <a:ln w="254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310896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FDECEC"/>
          </a:solidFill>
          <a:ln w="254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MEZCLADAS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794760" y="310896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4663440" y="3108960"/>
            <a:ext cx="3291840" cy="1005840"/>
          </a:xfrm>
          <a:prstGeom prst="roundRect">
            <a:avLst>
              <a:gd name="adj" fmla="val 5455"/>
            </a:avLst>
          </a:prstGeom>
          <a:solidFill>
            <a:srgbClr val="FDECEC"/>
          </a:solidFill>
          <a:ln w="254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412480" y="1645920"/>
            <a:ext cx="331927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49640" y="1719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Mezcladas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95360" y="2103120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98864" y="2148840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02368" y="2103120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296144" y="2148840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899648" y="2103120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68512" y="2587752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62288" y="2542032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765792" y="2587752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369296" y="2542032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863072" y="2587752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31936" y="2980944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35440" y="3026664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29216" y="2980944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332720" y="3026664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936224" y="2980944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412480" y="3657600"/>
            <a:ext cx="3319272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49640" y="3730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Separadas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595360" y="4069080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595360" y="4325112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595360" y="4581144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595360" y="4837176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595360" y="5093208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601200" y="4069080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601200" y="4325112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601200" y="4581144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601200" y="4837176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601200" y="5093208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607040" y="4069080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607040" y="4325112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607040" y="4581144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607040" y="4837176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607040" y="5093208"/>
            <a:ext cx="868680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57200" y="4937760"/>
            <a:ext cx="74980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57200" y="4937760"/>
            <a:ext cx="82296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31520" y="493776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Mantenemos todas las funciones. Cambiamos dónde vive cada una.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CENTRAL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responsabilidades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21031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691640"/>
            <a:ext cx="21031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0080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para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2578608" y="3200400"/>
            <a:ext cx="146304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0" y="1691640"/>
            <a:ext cx="21031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0" y="1691640"/>
            <a:ext cx="21031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926080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para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26080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4864608" y="3200400"/>
            <a:ext cx="146304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0" y="1691640"/>
            <a:ext cx="21031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0" y="1691640"/>
            <a:ext cx="21031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1208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212080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para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12080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7150608" y="3200400"/>
            <a:ext cx="146304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15200" y="1691640"/>
            <a:ext cx="21031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0" y="1691640"/>
            <a:ext cx="21031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9808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498080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para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498080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</a:t>
            </a:r>
            <a:endParaRPr lang="en-US" sz="2600" dirty="0"/>
          </a:p>
        </p:txBody>
      </p:sp>
      <p:sp>
        <p:nvSpPr>
          <p:cNvPr id="30" name="Shape 27"/>
          <p:cNvSpPr/>
          <p:nvPr/>
        </p:nvSpPr>
        <p:spPr>
          <a:xfrm>
            <a:off x="9436608" y="3200400"/>
            <a:ext cx="146304" cy="9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601200" y="1691640"/>
            <a:ext cx="21031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601200" y="1691640"/>
            <a:ext cx="21031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784080" y="2057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784080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para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9784080" y="3063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</a:t>
            </a:r>
            <a:endParaRPr lang="en-US" sz="2600" dirty="0"/>
          </a:p>
        </p:txBody>
      </p:sp>
      <p:sp>
        <p:nvSpPr>
          <p:cNvPr id="36" name="Shape 33"/>
          <p:cNvSpPr/>
          <p:nvPr/>
        </p:nvSpPr>
        <p:spPr>
          <a:xfrm>
            <a:off x="457200" y="5074920"/>
            <a:ext cx="1127455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7200" y="5074920"/>
            <a:ext cx="82296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1520" y="507492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pantalla tiene un propósito claro. La persona sabe qué hacer en cada una.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CENTRAL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todo depende de todo, cualquier cambio afecta más lugares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5486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45352" y="1463040"/>
            <a:ext cx="548640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6002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28232" y="160020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2377440"/>
            <a:ext cx="1501304" cy="430351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2377440"/>
            <a:ext cx="1872096" cy="1397341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2377440"/>
            <a:ext cx="833161" cy="2172807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2367239" y="2377440"/>
            <a:ext cx="833161" cy="2172807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1328304" y="2377440"/>
            <a:ext cx="1872096" cy="1397341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>
            <a:off x="1699096" y="2377440"/>
            <a:ext cx="1501304" cy="430351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1704" y="2807791"/>
            <a:ext cx="370791" cy="966990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H="1">
            <a:off x="4033561" y="2807791"/>
            <a:ext cx="668143" cy="1742456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2367239" y="2807791"/>
            <a:ext cx="2334465" cy="1742456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H="1">
            <a:off x="1328304" y="2807791"/>
            <a:ext cx="3373400" cy="966990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>
            <a:off x="1699096" y="2807791"/>
            <a:ext cx="3002608" cy="914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H="1">
            <a:off x="4033561" y="3774781"/>
            <a:ext cx="1038935" cy="775466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H="1">
            <a:off x="2367239" y="3774781"/>
            <a:ext cx="2705256" cy="775466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H="1">
            <a:off x="1328304" y="3774781"/>
            <a:ext cx="3744191" cy="914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H="1" flipV="1">
            <a:off x="1699096" y="2807791"/>
            <a:ext cx="3373400" cy="966990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H="1">
            <a:off x="2367239" y="4550247"/>
            <a:ext cx="1666322" cy="914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H="1" flipV="1">
            <a:off x="1328304" y="3774781"/>
            <a:ext cx="2705256" cy="775466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H="1" flipV="1">
            <a:off x="1699096" y="2807791"/>
            <a:ext cx="2334465" cy="1742456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H="1" flipV="1">
            <a:off x="1328304" y="3774781"/>
            <a:ext cx="1038935" cy="775466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H="1" flipV="1">
            <a:off x="1699096" y="2807791"/>
            <a:ext cx="668143" cy="1742456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1328304" y="2807791"/>
            <a:ext cx="370791" cy="966990"/>
          </a:xfrm>
          <a:prstGeom prst="line">
            <a:avLst/>
          </a:prstGeom>
          <a:noFill/>
          <a:ln w="12700">
            <a:solidFill>
              <a:srgbClr val="E5484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28900" y="2203704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130204" y="2634055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00996" y="3601045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462061" y="4376511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795739" y="4376511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56804" y="3601045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127596" y="2634055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 flipV="1">
            <a:off x="7680960" y="2651760"/>
            <a:ext cx="1920240" cy="91440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680960" y="3566160"/>
            <a:ext cx="914" cy="118872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601200" y="2651760"/>
            <a:ext cx="1371600" cy="118872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680960" y="3566160"/>
            <a:ext cx="1920240" cy="128016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601200" y="4846320"/>
            <a:ext cx="1371600" cy="914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86600" y="3392424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E3F4F1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006840" y="2478024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E3F4F1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086600" y="4581144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0469880" y="3666744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9006840" y="4672584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10469880" y="4672584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640080" y="5074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todo depende de todo, cualquier cambio afecta más lugares.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6428232" y="5074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parte tiene un propósito claro, pero sigue conectada con las demás.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57200" y="5760720"/>
            <a:ext cx="82296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1520" y="57607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Mismas funciones. Relaciones claras.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LENGUAJE COMÚN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cada módulo resuelve lo mismo de otra manera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pic>
        <p:nvPicPr>
          <p:cNvPr id="8" name="Image 0" descr="Captura de pantalla: cli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2743200" cy="1714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1874520"/>
            <a:ext cx="2743200" cy="17145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49680" y="2057400"/>
            <a:ext cx="1615440" cy="19812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247775" y="2314575"/>
            <a:ext cx="735330" cy="7620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249680" y="2480310"/>
            <a:ext cx="1615440" cy="110871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pic>
        <p:nvPicPr>
          <p:cNvPr id="13" name="Image 1" descr="Captura de pantalla: emplea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74520"/>
            <a:ext cx="2743200" cy="1905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337560" y="1874520"/>
            <a:ext cx="2743200" cy="19050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006215" y="2057400"/>
            <a:ext cx="1863090" cy="158115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006215" y="2270760"/>
            <a:ext cx="1232535" cy="169545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010025" y="2529840"/>
            <a:ext cx="1855470" cy="123825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5720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· buscador · lista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3375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33756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· 3 filtros · lista · baja en cada fila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583680" y="150876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583680" y="19659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E3F4F1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58368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165592" y="2377440"/>
            <a:ext cx="173736" cy="91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6" name="Text 21"/>
          <p:cNvSpPr/>
          <p:nvPr/>
        </p:nvSpPr>
        <p:spPr>
          <a:xfrm>
            <a:off x="8366760" y="19659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E3F4F1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36676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9948672" y="2377440"/>
            <a:ext cx="173736" cy="91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9" name="Text 24"/>
          <p:cNvSpPr/>
          <p:nvPr/>
        </p:nvSpPr>
        <p:spPr>
          <a:xfrm>
            <a:off x="10149840" y="19659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E3F4F1"/>
          </a:solidFill>
          <a:ln w="1905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/ Editar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1014984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583680" y="3383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patrón para Clientes, Empleados, Empresas y Proveedores.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583680" y="4206240"/>
            <a:ext cx="51480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583680" y="4206240"/>
            <a:ext cx="82296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858000" y="4206240"/>
            <a:ext cx="4690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aprende un módulo ya sabe usar los demás.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457200" y="4754880"/>
            <a:ext cx="56235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57200" y="4754880"/>
            <a:ext cx="82296" cy="822960"/>
          </a:xfrm>
          <a:prstGeom prst="rect">
            <a:avLst/>
          </a:prstGeom>
          <a:solidFill>
            <a:srgbClr val="E548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31520" y="475488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Crear, buscar, listar y accionar conviven distinto en cada módulo.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/ PROPUESTA · CLIENTES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Clientes: de una pantalla que hace todo a un patrón claro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36792" y="14630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pic>
        <p:nvPicPr>
          <p:cNvPr id="9" name="Image 0" descr="Captura de pantalla: cli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4846320" cy="30289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1874520"/>
            <a:ext cx="4846320" cy="30289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857248" y="2197608"/>
            <a:ext cx="2853944" cy="350012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701800" y="20421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486150" y="2944749"/>
            <a:ext cx="1087057" cy="1958721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30702" y="278930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857248" y="2840418"/>
            <a:ext cx="339916" cy="60579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701800" y="268497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pic>
        <p:nvPicPr>
          <p:cNvPr id="17" name="Image 1" descr="Captura de pantalla: mk-cli-lis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874520"/>
            <a:ext cx="5120640" cy="301037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336792" y="1874520"/>
            <a:ext cx="5120640" cy="301037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422303" y="2034540"/>
            <a:ext cx="880110" cy="230029"/>
          </a:xfrm>
          <a:prstGeom prst="rect">
            <a:avLst/>
          </a:prstGeom>
          <a:solidFill>
            <a:srgbClr val="0D9488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266855" y="18790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66808" y="2509599"/>
            <a:ext cx="2740342" cy="240030"/>
          </a:xfrm>
          <a:prstGeom prst="rect">
            <a:avLst/>
          </a:prstGeom>
          <a:solidFill>
            <a:srgbClr val="0D9488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11360" y="235415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1062383" y="3264694"/>
            <a:ext cx="200025" cy="1300163"/>
          </a:xfrm>
          <a:prstGeom prst="rect">
            <a:avLst/>
          </a:prstGeom>
          <a:solidFill>
            <a:srgbClr val="0D9488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0906935" y="310924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943600" y="3383280"/>
            <a:ext cx="347472" cy="914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6" name="Text 21"/>
          <p:cNvSpPr/>
          <p:nvPr/>
        </p:nvSpPr>
        <p:spPr>
          <a:xfrm>
            <a:off x="457200" y="5148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960120" y="5120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Alta, búsqueda y lista juntas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57200" y="55504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960120" y="5522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 de presupuesto con ceros repetidos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57200" y="5952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960120" y="5925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 clientes en una única lista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336792" y="5148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839712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«Nuevo cliente» abre su propia pantalla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336792" y="55504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839712" y="5522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primero, con el total a la vista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336792" y="5952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839712" y="5925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 de cada fila dentro de un menú «⋯»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089904" y="5120640"/>
            <a:ext cx="9144" cy="118872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/ PROPUESTA · VENTAS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Ventas: columnas clave en la lista, el resto en la ficha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36792" y="14630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pic>
        <p:nvPicPr>
          <p:cNvPr id="9" name="Image 0" descr="Captura de pantalla: ven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4846320" cy="30289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1874520"/>
            <a:ext cx="4846320" cy="30289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24510" y="2958211"/>
            <a:ext cx="673100" cy="996188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9062" y="2802763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338961" y="2386076"/>
            <a:ext cx="3903980" cy="242316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83513" y="22306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338961" y="2083181"/>
            <a:ext cx="2793365" cy="168275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83513" y="1927733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pic>
        <p:nvPicPr>
          <p:cNvPr id="17" name="Image 1" descr="Captura de pantalla: mk-vent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874520"/>
            <a:ext cx="4389120" cy="2981289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336792" y="1874520"/>
            <a:ext cx="4389120" cy="2981289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607929" y="2073273"/>
            <a:ext cx="836417" cy="194612"/>
          </a:xfrm>
          <a:prstGeom prst="rect">
            <a:avLst/>
          </a:prstGeom>
          <a:solidFill>
            <a:srgbClr val="0D9488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452481" y="191782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19606" y="3096020"/>
            <a:ext cx="4024740" cy="207034"/>
          </a:xfrm>
          <a:prstGeom prst="rect">
            <a:avLst/>
          </a:prstGeom>
          <a:solidFill>
            <a:srgbClr val="0D9488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264158" y="29405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491990" y="2549451"/>
            <a:ext cx="869543" cy="190471"/>
          </a:xfrm>
          <a:prstGeom prst="rect">
            <a:avLst/>
          </a:prstGeom>
          <a:solidFill>
            <a:srgbClr val="0D9488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336542" y="2394003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943600" y="3383280"/>
            <a:ext cx="347472" cy="914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6" name="Text 21"/>
          <p:cNvSpPr/>
          <p:nvPr/>
        </p:nvSpPr>
        <p:spPr>
          <a:xfrm>
            <a:off x="457200" y="5148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960120" y="5120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destinos de Ventas en el menú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57200" y="55504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960120" y="5522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columnas en la lista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57200" y="5952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960120" y="5925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filtros sin un total de resultados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336792" y="5148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839712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«Nueva oportunidad» como acción visible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336792" y="55504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839712" y="5522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Pocas columnas; el detalle en la ficha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336792" y="5952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839712" y="5925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y Kanban con un selector, y «142 resultados»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089904" y="5120640"/>
            <a:ext cx="9144" cy="118872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/ PROPUESTA · COMPRAS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Pedido: agregar solo lo que se necesita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36792" y="14630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pic>
        <p:nvPicPr>
          <p:cNvPr id="9" name="Image 0" descr="Captura de pantalla: ped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3931920" cy="298879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1874520"/>
            <a:ext cx="3931920" cy="298879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88541" y="3013581"/>
            <a:ext cx="813615" cy="73059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33093" y="2858133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951180" y="3332386"/>
            <a:ext cx="797011" cy="1530925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95732" y="317693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88541" y="2319518"/>
            <a:ext cx="2816105" cy="591116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33093" y="216407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pic>
        <p:nvPicPr>
          <p:cNvPr id="17" name="Image 1" descr="Captura de pantalla: mk-pedi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874520"/>
            <a:ext cx="4206240" cy="295751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336792" y="1874520"/>
            <a:ext cx="4206240" cy="2957512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60022" y="3681889"/>
            <a:ext cx="2053828" cy="287536"/>
          </a:xfrm>
          <a:prstGeom prst="rect">
            <a:avLst/>
          </a:prstGeom>
          <a:solidFill>
            <a:srgbClr val="0D9488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04574" y="352644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10730" y="4002286"/>
            <a:ext cx="3943350" cy="731163"/>
          </a:xfrm>
          <a:prstGeom prst="rect">
            <a:avLst/>
          </a:prstGeom>
          <a:solidFill>
            <a:srgbClr val="0D9488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255282" y="384683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77869" y="2367439"/>
            <a:ext cx="4033718" cy="1232297"/>
          </a:xfrm>
          <a:prstGeom prst="rect">
            <a:avLst/>
          </a:prstGeom>
          <a:solidFill>
            <a:srgbClr val="0D9488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22421" y="221199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943600" y="3383280"/>
            <a:ext cx="347472" cy="914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6" name="Text 21"/>
          <p:cNvSpPr/>
          <p:nvPr/>
        </p:nvSpPr>
        <p:spPr>
          <a:xfrm>
            <a:off x="457200" y="5148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960120" y="5120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 artículos en pantalla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57200" y="55504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960120" y="5522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campos por cada artículo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57200" y="5952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960120" y="5925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del pedido mezclados con el catálogo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336792" y="5148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839712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«Líneas del pedido (3)»: solo lo que se pidió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336792" y="55504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839712" y="5522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agrega buscando por código o nombre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336792" y="5952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839712" y="5925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Cabecera separada de las líneas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089904" y="5120640"/>
            <a:ext cx="9144" cy="118872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/ PROPUESTA · NOVEDADES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Novedades: registrar, reportar y consultar, cada uno en su lugar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36792" y="14630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pic>
        <p:nvPicPr>
          <p:cNvPr id="9" name="Image 0" descr="Captura de pantalla: noveda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874520"/>
            <a:ext cx="2858195" cy="3017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463040" y="1874520"/>
            <a:ext cx="2858195" cy="30175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849283" y="2106266"/>
            <a:ext cx="2047086" cy="1863620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693835" y="195081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849283" y="4054376"/>
            <a:ext cx="2047086" cy="393485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693835" y="38989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849283" y="4539594"/>
            <a:ext cx="2047086" cy="304166"/>
          </a:xfrm>
          <a:prstGeom prst="rect">
            <a:avLst/>
          </a:prstGeom>
          <a:solidFill>
            <a:srgbClr val="E5484D">
              <a:alpha val="1000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693835" y="438414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36792" y="1874520"/>
            <a:ext cx="539496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19672" y="2011680"/>
            <a:ext cx="1280160" cy="365760"/>
          </a:xfrm>
          <a:prstGeom prst="rect">
            <a:avLst>
              <a:gd name="adj" fmla="val 1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891272" y="2011680"/>
            <a:ext cx="1280160" cy="36576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262872" y="2011680"/>
            <a:ext cx="1280160" cy="365760"/>
          </a:xfrm>
          <a:prstGeom prst="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519672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519672" y="2807208"/>
            <a:ext cx="2377440" cy="3017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125712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9125712" y="2807208"/>
            <a:ext cx="2377440" cy="3017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19672" y="32186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del día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519672" y="3465576"/>
            <a:ext cx="2377440" cy="3017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125712" y="32186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extra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9125712" y="3465576"/>
            <a:ext cx="2377440" cy="3017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19672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 y justificación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519672" y="4133088"/>
            <a:ext cx="5029200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19672" y="4480560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novedad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6181344" y="1719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9015984" y="18562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10387584" y="18562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943600" y="3383280"/>
            <a:ext cx="347472" cy="914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36" name="Text 32"/>
          <p:cNvSpPr/>
          <p:nvPr/>
        </p:nvSpPr>
        <p:spPr>
          <a:xfrm>
            <a:off x="457200" y="5148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960120" y="5120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tareas en una sola pantalla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457200" y="55504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960120" y="5522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y listado debajo del formulario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457200" y="5952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960120" y="5925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y consultar sin separación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6336792" y="5148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6839712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Pestañas: Registrar · Reportes · Listado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6336792" y="55504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1"/>
          <p:cNvSpPr/>
          <p:nvPr/>
        </p:nvSpPr>
        <p:spPr>
          <a:xfrm>
            <a:off x="6839712" y="5522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reporte en su propio lugar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6336792" y="5952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6839712" y="5925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tarea por vez, con foco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6089904" y="5120640"/>
            <a:ext cx="9144" cy="118872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/ PROPUESTA · INGRESO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Ingreso: una puerta de entrada simple y un inicio que orienta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36792" y="14630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57200" y="1874520"/>
            <a:ext cx="5440680" cy="306038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1874520"/>
            <a:ext cx="5440680" cy="306038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11816" y="222913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56784" y="428617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36792" y="1874520"/>
            <a:ext cx="265176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39712" y="2697480"/>
            <a:ext cx="1645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76872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976872" y="3154680"/>
            <a:ext cx="1371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76872" y="3474720"/>
            <a:ext cx="13716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976872" y="38404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519672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menú ni botones ajenos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9034272" y="3474720"/>
            <a:ext cx="228600" cy="91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9308592" y="1874520"/>
            <a:ext cx="242316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445752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445752" y="2377440"/>
            <a:ext cx="1005840" cy="694944"/>
          </a:xfrm>
          <a:prstGeom prst="roundRect">
            <a:avLst>
              <a:gd name="adj" fmla="val 7895"/>
            </a:avLst>
          </a:prstGeom>
          <a:solidFill>
            <a:srgbClr val="E3F4F1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0543032" y="2377440"/>
            <a:ext cx="1005840" cy="694944"/>
          </a:xfrm>
          <a:prstGeom prst="roundRect">
            <a:avLst>
              <a:gd name="adj" fmla="val 7895"/>
            </a:avLst>
          </a:prstGeom>
          <a:solidFill>
            <a:srgbClr val="E3F4F1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9445752" y="3182112"/>
            <a:ext cx="1005840" cy="694944"/>
          </a:xfrm>
          <a:prstGeom prst="roundRect">
            <a:avLst>
              <a:gd name="adj" fmla="val 7895"/>
            </a:avLst>
          </a:prstGeom>
          <a:solidFill>
            <a:srgbClr val="E3F4F1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RRHH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0543032" y="3182112"/>
            <a:ext cx="1005840" cy="694944"/>
          </a:xfrm>
          <a:prstGeom prst="roundRect">
            <a:avLst>
              <a:gd name="adj" fmla="val 7895"/>
            </a:avLst>
          </a:prstGeom>
          <a:solidFill>
            <a:srgbClr val="E3F4F1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9445752" y="3986784"/>
            <a:ext cx="1005840" cy="694944"/>
          </a:xfrm>
          <a:prstGeom prst="roundRect">
            <a:avLst>
              <a:gd name="adj" fmla="val 7895"/>
            </a:avLst>
          </a:prstGeom>
          <a:solidFill>
            <a:srgbClr val="E3F4F1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0543032" y="3986784"/>
            <a:ext cx="1005840" cy="694944"/>
          </a:xfrm>
          <a:prstGeom prst="roundRect">
            <a:avLst>
              <a:gd name="adj" fmla="val 7895"/>
            </a:avLst>
          </a:prstGeom>
          <a:solidFill>
            <a:srgbClr val="E3F4F1"/>
          </a:solidFill>
          <a:ln w="12700">
            <a:solidFill>
              <a:srgbClr val="0D9488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181344" y="1719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684264" y="25420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9153144" y="1719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943600" y="3383280"/>
            <a:ext cx="347472" cy="914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33" name="Text 29"/>
          <p:cNvSpPr/>
          <p:nvPr/>
        </p:nvSpPr>
        <p:spPr>
          <a:xfrm>
            <a:off x="457200" y="5148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960120" y="5120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 lateral vacío antes de ingresar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57200" y="55504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960120" y="5522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«Cerrar sesión» visible sin haber ingresado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57200" y="5952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E548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960120" y="5925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ingreso usa el mismo marco que el resto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6336792" y="51480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6839712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a pantalla completa, sin menú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6336792" y="55504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6839712" y="5522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acción: «Entrar»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6336792" y="59527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0D9488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6839712" y="5925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Después, un inicio con acceso a cada área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6089904" y="5120640"/>
            <a:ext cx="9144" cy="118872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GANA QUIEN LO USA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esfuerzo para hacer lo mismo de siempre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691640"/>
            <a:ext cx="21031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Encuentra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40080" y="283464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rápido lo que busca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743200" y="169164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0" y="1691640"/>
            <a:ext cx="21031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Entiende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926080" y="283464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está y qué puede hacer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0" y="169164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0" y="1691640"/>
            <a:ext cx="21031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1208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212080" y="283464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tarea por vez, con foco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169164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0" y="1691640"/>
            <a:ext cx="21031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7498080" y="283464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vez y lo usa en todo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9601200" y="1691640"/>
            <a:ext cx="21031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601200" y="1691640"/>
            <a:ext cx="21031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8408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Confía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9784080" y="283464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 que ve en pantalla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57200" y="4846320"/>
            <a:ext cx="1127455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4846320"/>
            <a:ext cx="82296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484632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Mismas funciones. Menos esfuerzo para encontrarlas.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GANA DINAMIC CLEAN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Sabemos dónde debe vivir cada nueva función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5486400" cy="1920240"/>
          </a:xfrm>
          <a:prstGeom prst="rect">
            <a:avLst/>
          </a:prstGeom>
          <a:solidFill>
            <a:srgbClr val="FDECEC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69164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HOY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1031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agregar algo nuevo hay que entender una pantalla con muchas responsabilidades.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45352" y="1554480"/>
            <a:ext cx="5486400" cy="1920240"/>
          </a:xfrm>
          <a:prstGeom prst="rect">
            <a:avLst/>
          </a:prstGeom>
          <a:solidFill>
            <a:srgbClr val="E3F4F1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8232" y="16916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28232" y="21031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Sabemos dónde debe vivir cada nueva función.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961888" y="2514600"/>
            <a:ext cx="256032" cy="914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57200" y="3931920"/>
            <a:ext cx="21031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931920"/>
            <a:ext cx="73152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5800" y="4572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simple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743200" y="3931920"/>
            <a:ext cx="21031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0" y="3931920"/>
            <a:ext cx="73152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718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971800" y="4572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corta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29200" y="3931920"/>
            <a:ext cx="21031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0" y="3931920"/>
            <a:ext cx="73152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578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257800" y="4572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módulos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315200" y="3931920"/>
            <a:ext cx="21031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15200" y="3931920"/>
            <a:ext cx="73152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438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543800" y="4572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ordenada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601200" y="3931920"/>
            <a:ext cx="21031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601200" y="3931920"/>
            <a:ext cx="73152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8298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riesgo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829800" y="4572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cambiar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una función puede afectar otras que viven en la misma pantalla. Con espacios claros, ese riesgo baja.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AVANZAR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módulo por vez, sin perder lo que ya funciona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19456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2423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85800" y="3200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un módulo piloto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ejemplo, Clientes.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27248" y="3246120"/>
            <a:ext cx="146304" cy="91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291840" y="2194560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219456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20440" y="2423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3520440" y="3200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con quienes lo usan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52044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tareas reales.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61888" y="3246120"/>
            <a:ext cx="146304" cy="91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126480" y="2194560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219456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55080" y="2423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22" name="Text 19"/>
          <p:cNvSpPr/>
          <p:nvPr/>
        </p:nvSpPr>
        <p:spPr>
          <a:xfrm>
            <a:off x="6355080" y="3200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Replicar el patrón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5508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Empleados, Empresas, Proveedores.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796528" y="3246120"/>
            <a:ext cx="146304" cy="914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961120" y="2194560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61120" y="219456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89720" y="2423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28" name="Text 25"/>
          <p:cNvSpPr/>
          <p:nvPr/>
        </p:nvSpPr>
        <p:spPr>
          <a:xfrm>
            <a:off x="9189720" y="3200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 módulo por módulo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18972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Ventas, Compras, Novedades.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4754880"/>
            <a:ext cx="1127455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4754880"/>
            <a:ext cx="82296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31520" y="475488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paso conserva todas las funciones y se valida antes del siguiente.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antes de implementar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· Auditoría UX/UI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3657600" cy="2194560"/>
          </a:xfrm>
          <a:prstGeom prst="rect">
            <a:avLst/>
          </a:prstGeom>
          <a:solidFill>
            <a:srgbClr val="1723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3152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las propuestas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quienes usan cada módulo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51960" y="1737360"/>
            <a:ext cx="3657600" cy="2194560"/>
          </a:xfrm>
          <a:prstGeom prst="rect">
            <a:avLst/>
          </a:prstGeom>
          <a:solidFill>
            <a:srgbClr val="1723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628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452628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con tareas reales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2628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buscar, crear, editar, reportar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46720" y="1737360"/>
            <a:ext cx="3657600" cy="2194560"/>
          </a:xfrm>
          <a:prstGeom prst="rect">
            <a:avLst/>
          </a:prstGeom>
          <a:solidFill>
            <a:srgbClr val="1723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104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832104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juntos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32104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ordena primero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44805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Dinamic Clean ya funciona.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propuesta es ordenar cómo crece, sin perder ninguna función.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Dinamic Clean — Auditoría UX/UI</dc:title>
  <dc:subject>PptxGenJS Presentation</dc:subject>
  <dc:creator>Equipo de producto</dc:creator>
  <cp:lastModifiedBy>Equipo de producto</cp:lastModifiedBy>
  <cp:revision>1</cp:revision>
  <dcterms:created xsi:type="dcterms:W3CDTF">2026-10-25T10:23:47Z</dcterms:created>
  <dcterms:modified xsi:type="dcterms:W3CDTF">2026-10-25T10:23:47Z</dcterms:modified>
</cp:coreProperties>
</file>