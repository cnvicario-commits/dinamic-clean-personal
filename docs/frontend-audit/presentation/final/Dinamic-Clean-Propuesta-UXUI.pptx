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1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1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0F172A"/>
                </a:solidFill>
                <a:latin typeface="Arial"/>
              </a:rPr>
              <a:t>Dinamic Clean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154680"/>
            <a:ext cx="1188720" cy="822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0F172A"/>
                </a:solidFill>
                <a:latin typeface="Arial"/>
              </a:rPr>
              <a:t>Propuesta de evolución de la experiencia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475569"/>
                </a:solidFill>
                <a:latin typeface="Arial"/>
              </a:rPr>
              <a:t>Auditoría UX/UI · Diagnóstico · Propuesta de mejora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Qué hicimos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172A"/>
                </a:solidFill>
                <a:latin typeface="Arial"/>
              </a:rPr>
              <a:t>Antes de proponer cambios, revisamos cómo está construido y cómo se usa hoy el sistema.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199339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993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D9488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200400"/>
            <a:ext cx="181051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Arial"/>
              </a:rPr>
              <a:t>Revisar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2072" y="2468880"/>
            <a:ext cx="199339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2072" y="2606040"/>
            <a:ext cx="1993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D9488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3200400"/>
            <a:ext cx="181051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Arial"/>
              </a:rPr>
              <a:t>Detectar problemas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2468880"/>
            <a:ext cx="199339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84064" y="2606040"/>
            <a:ext cx="1993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D9488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3200400"/>
            <a:ext cx="181051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Arial"/>
              </a:rPr>
              <a:t>Entender por qué ocurren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6056" y="2468880"/>
            <a:ext cx="199339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06056" y="2606040"/>
            <a:ext cx="1993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D9488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3200400"/>
            <a:ext cx="181051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Arial"/>
              </a:rPr>
              <a:t>Diseñar una alternativa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8048" y="2468880"/>
            <a:ext cx="1993392" cy="21031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8048" y="2606040"/>
            <a:ext cx="1993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9488" y="3200400"/>
            <a:ext cx="181051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Validar antes de implementar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Una aclaración importante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0D9488"/>
                </a:solidFill>
                <a:latin typeface="Arial"/>
              </a:rPr>
              <a:t>Dinamic Clean funciona.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254889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880360"/>
            <a:ext cx="214655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0F172A"/>
                </a:solidFill>
                <a:latin typeface="Arial"/>
              </a:rPr>
              <a:t>✓  CRM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7570" y="2743200"/>
            <a:ext cx="254889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8738" y="2880360"/>
            <a:ext cx="214655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0F172A"/>
                </a:solidFill>
                <a:latin typeface="Arial"/>
              </a:rPr>
              <a:t>✓  Compras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60" y="2743200"/>
            <a:ext cx="254889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6228" y="2880360"/>
            <a:ext cx="214655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0F172A"/>
                </a:solidFill>
                <a:latin typeface="Arial"/>
              </a:rPr>
              <a:t>✓  RRHH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2550" y="2743200"/>
            <a:ext cx="254889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3718" y="2880360"/>
            <a:ext cx="214655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0F172A"/>
                </a:solidFill>
                <a:latin typeface="Arial"/>
              </a:rPr>
              <a:t>✓  Auditorías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0F172A"/>
                </a:solidFill>
                <a:latin typeface="Arial"/>
              </a:rPr>
              <a:t>La propuesta no busca reemplazar el sistema.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0F172A"/>
                </a:solidFill>
                <a:latin typeface="Arial"/>
              </a:rPr>
              <a:t>Busca ordenar cómo se usa y cómo puede seguir creciendo.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El sistema fue creciendo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Cada módulo fue creciendo a su manera. Hoy, tareas parecidas se hacen distinto.</a:t>
            </a:r>
          </a:p>
        </p:txBody>
      </p:sp>
      <p:pic>
        <p:nvPicPr>
          <p:cNvPr id="5" name="Picture 4" descr="col-real-ventas-lis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349240" cy="19842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828800"/>
            <a:ext cx="5349240" cy="19842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3337560"/>
            <a:ext cx="1463040" cy="36576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33756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Ventas</a:t>
            </a:r>
          </a:p>
        </p:txBody>
      </p:sp>
      <p:pic>
        <p:nvPicPr>
          <p:cNvPr id="9" name="Picture 8" descr="col-real-clie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5349240" cy="19842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1828800"/>
            <a:ext cx="5349240" cy="19842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81928" y="3337560"/>
            <a:ext cx="1463040" cy="36576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33756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Clientes</a:t>
            </a:r>
          </a:p>
        </p:txBody>
      </p:sp>
      <p:pic>
        <p:nvPicPr>
          <p:cNvPr id="13" name="Picture 12" descr="col-real-pedido-nuev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31920"/>
            <a:ext cx="5349240" cy="198424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80" y="3931920"/>
            <a:ext cx="5349240" cy="19842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5440679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40679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Pedido de compra</a:t>
            </a:r>
          </a:p>
        </p:txBody>
      </p:sp>
      <p:pic>
        <p:nvPicPr>
          <p:cNvPr id="17" name="Picture 16" descr="col-real-ausencias-comple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931920"/>
            <a:ext cx="5349240" cy="198424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172200" y="3931920"/>
            <a:ext cx="5349240" cy="19842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81928" y="5440679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5440679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Novedades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Capturas reales de hoy (datos personales difuminados).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Tres cosas que vimos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172A"/>
                </a:solidFill>
                <a:latin typeface="Arial"/>
              </a:rPr>
              <a:t>Son tres, no cuarenta.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4442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44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0D9488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2987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Información que puede generar confusión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298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475569"/>
                </a:solidFill>
                <a:latin typeface="Arial"/>
              </a:rPr>
              <a:t>Ejemplo: Ventas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640" y="2103120"/>
            <a:ext cx="34442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8640" y="2286000"/>
            <a:ext cx="344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0D9488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3200400"/>
            <a:ext cx="2987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Pantallas que intentan hacer demasiadas cosas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240" y="4572000"/>
            <a:ext cx="298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475569"/>
                </a:solidFill>
                <a:latin typeface="Arial"/>
              </a:rPr>
              <a:t>Ejemplo: Clientes y Novedades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2103120"/>
            <a:ext cx="34442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7200" y="2286000"/>
            <a:ext cx="344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0D9488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3200400"/>
            <a:ext cx="2987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Cada módulo resuelve lo mismo de manera distinta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4572000"/>
            <a:ext cx="298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475569"/>
                </a:solidFill>
                <a:latin typeface="Arial"/>
              </a:rPr>
              <a:t>Botones, formularios y tablas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Buscar debería significar buscar en todo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lip-01-venta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" y="1417320"/>
            <a:ext cx="6720840" cy="37801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303520"/>
            <a:ext cx="6720840" cy="45720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6720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Buscando dentro de una parte del listado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17320"/>
            <a:ext cx="3977639" cy="1350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0688" y="1527048"/>
            <a:ext cx="3575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HOY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1801368"/>
            <a:ext cx="3575303" cy="893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La búsqueda trabaja sobre una parte de la información.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913888"/>
            <a:ext cx="3977639" cy="1350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3023616"/>
            <a:ext cx="3575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PROPUESTA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3297936"/>
            <a:ext cx="3575303" cy="893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La búsqueda consulta todo y devuelve solo lo que coincide.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410456"/>
            <a:ext cx="3977639" cy="1350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4520184"/>
            <a:ext cx="3575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BENEFICIO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4794504"/>
            <a:ext cx="3575303" cy="893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Resultados confiables, menos dudas, exportaciones coherentes.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¿Por qué mostrar por páginas?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172A"/>
                </a:solidFill>
                <a:latin typeface="Arial"/>
              </a:rPr>
              <a:t>Cuando una lista crece, no tiene sentido traer todo junto.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4206240" cy="3337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Arial"/>
              </a:rPr>
              <a:t>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Cargar mucho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475569"/>
                </a:solidFill>
                <a:latin typeface="Arial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Mostrar una parte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475569"/>
                </a:solidFill>
                <a:latin typeface="Arial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Filtrar esa parte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828800"/>
            <a:ext cx="6492240" cy="3337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938528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Arial"/>
              </a:rPr>
              <a:t>PROPUESTA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28600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0F172A"/>
                </a:solidFill>
                <a:latin typeface="Arial"/>
              </a:rPr>
              <a:t>Toda la información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5176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475569"/>
                </a:solidFill>
                <a:latin typeface="Arial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999232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0F172A"/>
                </a:solidFill>
                <a:latin typeface="Arial"/>
              </a:rPr>
              <a:t>Buscar / filtrar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364991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475569"/>
                </a:solidFill>
                <a:latin typeface="Arial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712464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0F172A"/>
                </a:solidFill>
                <a:latin typeface="Arial"/>
              </a:rPr>
              <a:t>Resultados correctos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078224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475569"/>
                </a:solidFill>
                <a:latin typeface="Arial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425696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0F172A"/>
                </a:solidFill>
                <a:latin typeface="Arial"/>
              </a:rPr>
              <a:t>Mostrar por páginas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D9488"/>
                </a:solidFill>
                <a:latin typeface="Arial"/>
              </a:rPr>
              <a:t>Mostrar por páginas no significa buscar solamente en esa página.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Los filtros trabajan sobre toda la información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60604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Responsable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463040"/>
            <a:ext cx="260604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01568" y="1463040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Estado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463040"/>
            <a:ext cx="260604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3056" y="1463040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Tipo de cliente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24544" y="1463040"/>
            <a:ext cx="260604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24544" y="1463040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Buscar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14600"/>
            <a:ext cx="53492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624328"/>
            <a:ext cx="49469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HOY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898648"/>
            <a:ext cx="4946903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0F172A"/>
                </a:solidFill>
                <a:latin typeface="Arial"/>
              </a:rPr>
              <a:t>Traemos una parte y ocultamos lo que no coincide.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14600"/>
            <a:ext cx="5349240" cy="2103120"/>
          </a:xfrm>
          <a:prstGeom prst="roundRect">
            <a:avLst>
              <a:gd name="adj" fmla="val 5000"/>
            </a:avLst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624328"/>
            <a:ext cx="49469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PROPUESTA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898648"/>
            <a:ext cx="4946903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0F172A"/>
                </a:solidFill>
                <a:latin typeface="Arial"/>
              </a:rPr>
              <a:t>Primero encontramos qué información cumple la condición. Después la mostramos.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172A"/>
                </a:solidFill>
                <a:latin typeface="Arial"/>
              </a:rPr>
              <a:t>Ejemplo: “oportunidades de María en seguimiento”.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172A"/>
                </a:solidFill>
                <a:latin typeface="Arial"/>
              </a:rPr>
              <a:t>El usuario puede confiar en que ve el resultado completo.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Crear, buscar y editar son tareas diferentes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lip-02-pantallas-mezclada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" y="1417320"/>
            <a:ext cx="6720840" cy="37801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303520"/>
            <a:ext cx="6720840" cy="45720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6720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Crear + buscar + consultar, todo en la misma pantalla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17320"/>
            <a:ext cx="3977639" cy="1350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0688" y="1527048"/>
            <a:ext cx="3575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HOY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1801368"/>
            <a:ext cx="3575303" cy="893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Alta, listado, edición y filtros en un solo lugar.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913888"/>
            <a:ext cx="3977639" cy="1350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3023616"/>
            <a:ext cx="3575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PROPUESTA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3297936"/>
            <a:ext cx="3575303" cy="893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Listado, Nuevo, Ficha y Editar: cada tarea en su espacio, conectadas.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410456"/>
            <a:ext cx="3977639" cy="1350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4520184"/>
            <a:ext cx="3575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4794504"/>
            <a:ext cx="3575303" cy="893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Separar no significa duplicar. Significa ordenar.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Una tarea por pantalla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0" y="1508760"/>
            <a:ext cx="3017520" cy="960120"/>
          </a:xfrm>
          <a:prstGeom prst="roundRect">
            <a:avLst>
              <a:gd name="adj" fmla="val 5000"/>
            </a:avLst>
          </a:prstGeom>
          <a:solidFill>
            <a:srgbClr val="CCFBF1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58191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Listado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391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475569"/>
                </a:solidFill>
                <a:latin typeface="Arial"/>
              </a:rPr>
              <a:t>encontrar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063240"/>
            <a:ext cx="30175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1363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Nuevo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5935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475569"/>
                </a:solidFill>
                <a:latin typeface="Arial"/>
              </a:rPr>
              <a:t>crear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063240"/>
            <a:ext cx="30175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31363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Ficha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5935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475569"/>
                </a:solidFill>
                <a:latin typeface="Arial"/>
              </a:rPr>
              <a:t>consultar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572000"/>
            <a:ext cx="30175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464515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Editar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023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475569"/>
                </a:solidFill>
                <a:latin typeface="Arial"/>
              </a:rPr>
              <a:t>modificar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468880"/>
            <a:ext cx="54864" cy="2743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7328" y="2743200"/>
            <a:ext cx="4626864" cy="5486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7328" y="2743200"/>
            <a:ext cx="54864" cy="3200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9327" y="2743200"/>
            <a:ext cx="54864" cy="3200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39327" y="4023360"/>
            <a:ext cx="54864" cy="5486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Arial"/>
              </a:rPr>
              <a:t>No significa agregar complejidad.</a:t>
            </a:r>
          </a:p>
          <a:p>
            <a:pPr algn="l"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Arial"/>
              </a:rPr>
              <a:t>Significa separar tareas.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Clientes: hoy y propuesta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Arial"/>
              </a:rPr>
              <a:t>HOY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2011680" cy="36576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3258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PROPUESTA</a:t>
            </a:r>
          </a:p>
        </p:txBody>
      </p:sp>
      <p:pic>
        <p:nvPicPr>
          <p:cNvPr id="8" name="Picture 7" descr="cli-h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303520" cy="3108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783080"/>
            <a:ext cx="5303520" cy="310896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i-p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5303520" cy="3108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63640" y="1783080"/>
            <a:ext cx="5303520" cy="3108960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7929" y="2205828"/>
            <a:ext cx="3747820" cy="457977"/>
          </a:xfrm>
          <a:prstGeom prst="rect">
            <a:avLst/>
          </a:prstGeom>
          <a:noFill/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Alta y listado en la misma pantalla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0749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Listado limpio con botón “Nuevo cliente”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HOY: captura real. PROPUESTA: imagen ilustrativa; las columnas se definen con Clientes.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Crear y editar deberían sentirse iguales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-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309360" cy="443758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371600"/>
            <a:ext cx="6309360" cy="4437583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343400" cy="13807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4928" y="1527048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PROPUESTA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4928" y="1801368"/>
            <a:ext cx="3941063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Mismos campos y mismo orden en Nuevo y Editar.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2944368"/>
            <a:ext cx="4343400" cy="13807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8" y="3054096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CAMBIA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4928" y="3328415"/>
            <a:ext cx="3941063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Solo el título y el botón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4471416"/>
            <a:ext cx="4343400" cy="13807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8" y="4581144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BENEFICIO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8" y="4855464"/>
            <a:ext cx="3941063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Aprender una pantalla sirve para las dos tareas.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Imagen ilustrativa de la propuesta.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Ventas hoy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entas-h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766560" cy="42291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371600"/>
            <a:ext cx="6766560" cy="42291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15" y="2911256"/>
            <a:ext cx="944939" cy="1354633"/>
          </a:xfrm>
          <a:prstGeom prst="rect">
            <a:avLst/>
          </a:prstGeom>
          <a:noFill/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82378" y="2098476"/>
            <a:ext cx="5411926" cy="303966"/>
          </a:xfrm>
          <a:prstGeom prst="rect">
            <a:avLst/>
          </a:prstGeom>
          <a:noFill/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417320"/>
            <a:ext cx="3931920" cy="94754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6408" y="1527048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MUCHAS COLUMNAS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1801368"/>
            <a:ext cx="3529584" cy="4903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F172A"/>
                </a:solidFill>
                <a:latin typeface="Arial"/>
              </a:rPr>
              <a:t>16 columnas, con desplazamiento hacia el costado.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511171"/>
            <a:ext cx="3931920" cy="94754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620899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DOS ACCESOS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895219"/>
            <a:ext cx="3529584" cy="4903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F172A"/>
                </a:solidFill>
                <a:latin typeface="Arial"/>
              </a:rPr>
              <a:t>Tablero y Listado para el mismo trabajo.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605022"/>
            <a:ext cx="3931920" cy="94754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3714750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FILTROS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3989070"/>
            <a:ext cx="3529584" cy="4903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F172A"/>
                </a:solidFill>
                <a:latin typeface="Arial"/>
              </a:rPr>
              <a:t>Trabajan sobre las 50 oportunidades cargadas.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698872"/>
            <a:ext cx="3931920" cy="94754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6408" y="4808600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MENÚ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5082920"/>
            <a:ext cx="3529584" cy="4903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F172A"/>
                </a:solidFill>
                <a:latin typeface="Arial"/>
              </a:rPr>
              <a:t>“Nueva oportunidad” convive con las vistas.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Captura real de hoy; contacto, teléfono, referido y monto difuminados.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Ventas: propuesta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entas-p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309360" cy="428487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371600"/>
            <a:ext cx="6309360" cy="4284878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343400" cy="13807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4928" y="1527048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PROPUESTA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4928" y="1801368"/>
            <a:ext cx="3941063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Un solo espacio de trabajo: Lista o Kanban, con los mismos filtros y resultados.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2944368"/>
            <a:ext cx="4343400" cy="13807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8" y="3054096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LISTA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4928" y="3328415"/>
            <a:ext cx="3941063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Muestra solo lo necesario para decidir.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4471416"/>
            <a:ext cx="4343400" cy="13807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8" y="4581144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FICHA Y NUEVA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8" y="4855464"/>
            <a:ext cx="3941063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El detalle en la ficha; crear con un botón claro.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Imagen ilustrativa. Columnas y vista por defecto: a validar con Ventas.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Armar un pedido hoy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lip-03-pedid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" y="1417320"/>
            <a:ext cx="6720840" cy="37801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303520"/>
            <a:ext cx="6720840" cy="45720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6720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Una fila por cada artículo, aunque pidas pocos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17320"/>
            <a:ext cx="3977639" cy="20985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0688" y="1527048"/>
            <a:ext cx="3575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HOY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1801368"/>
            <a:ext cx="3575303" cy="1641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0F172A"/>
                </a:solidFill>
                <a:latin typeface="Arial"/>
              </a:rPr>
              <a:t>La pantalla dice “Artículos del catálogo (460)” y muestra una fila por cada uno.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662172"/>
            <a:ext cx="3977639" cy="20985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3771900"/>
            <a:ext cx="3575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PROPUESTA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4046220"/>
            <a:ext cx="3575303" cy="1641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0F172A"/>
                </a:solidFill>
                <a:latin typeface="Arial"/>
              </a:rPr>
              <a:t>Buscar lo que se necesita y armar el pedido solo con esos artículos.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Pedido de compra: propuesta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edido-p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309360" cy="443758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371600"/>
            <a:ext cx="6309360" cy="4437583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343400" cy="13807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4928" y="1527048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PROPUESTA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4928" y="1801368"/>
            <a:ext cx="3941063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Se empieza con un pedido vacío.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2944368"/>
            <a:ext cx="4343400" cy="13807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8" y="3054096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PASOS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4928" y="3328415"/>
            <a:ext cx="3941063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Elegir cliente, buscar artículo, indicar cantidad y enviar.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4471416"/>
            <a:ext cx="4343400" cy="13807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8" y="4581144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BENEFICIO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8" y="4855464"/>
            <a:ext cx="3941063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La pantalla muestra solo lo que forma parte del pedido.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Imagen ilustrativa de la propuesta.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Panel de compras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nel-p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309360" cy="443758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371600"/>
            <a:ext cx="6309360" cy="4437583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343400" cy="13807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4928" y="1527048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4928" y="1801368"/>
            <a:ext cx="3941063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Un listado y un formulario largo.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2944368"/>
            <a:ext cx="4343400" cy="13807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8" y="3054096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PROPUESTA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4928" y="3328415"/>
            <a:ext cx="3941063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Izquierda: qué falta resolver. Derecha: el pedido elegido.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4471416"/>
            <a:ext cx="4343400" cy="13807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8" y="4581144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BENEFICIO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8" y="4855464"/>
            <a:ext cx="3941063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Menos scroll y una decisión a la vez.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Imagen ilustrativa; el nombre del botón es provisorio.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Novedades: cargar y consultar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lip-04-novedade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" y="1417320"/>
            <a:ext cx="6720840" cy="37801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303520"/>
            <a:ext cx="6720840" cy="45720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6720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Cargar + consultar + reportar, todo junto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17320"/>
            <a:ext cx="3977639" cy="1350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0688" y="1527048"/>
            <a:ext cx="3575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HOY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1801368"/>
            <a:ext cx="3575303" cy="893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Formulario, reportes, listado, export y paginado en una sola pantalla.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913888"/>
            <a:ext cx="3977639" cy="1350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3023616"/>
            <a:ext cx="3575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PROPUESTA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3297936"/>
            <a:ext cx="3575303" cy="893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Dos pantallas: Consultar novedades y Cargar novedad.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410456"/>
            <a:ext cx="3977639" cy="1350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4520184"/>
            <a:ext cx="3575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BENEFICIO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4794504"/>
            <a:ext cx="3575303" cy="893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Cada persona ve solo lo que vino a hacer.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Ingreso y home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lip-05-logi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" y="1417320"/>
            <a:ext cx="6720840" cy="37801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303520"/>
            <a:ext cx="6720840" cy="45720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6720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Menú lateral vacío antes de ingresar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17320"/>
            <a:ext cx="3977639" cy="1350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0688" y="1527048"/>
            <a:ext cx="3575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HOY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1801368"/>
            <a:ext cx="3575303" cy="893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El ingreso muestra una columna de menú todavía sin opciones.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913888"/>
            <a:ext cx="3977639" cy="1350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3023616"/>
            <a:ext cx="3575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PROPUESTA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3297936"/>
            <a:ext cx="3575303" cy="893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Login limpio, home según el rol y menú con destinos.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410456"/>
            <a:ext cx="3977639" cy="1350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4520184"/>
            <a:ext cx="3575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A VALIDAR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4794504"/>
            <a:ext cx="3575303" cy="893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F172A"/>
                </a:solidFill>
                <a:latin typeface="Arial"/>
              </a:rPr>
              <a:t>Ventas: Trabajo, Agenda, Leads. Compras: Cola, Pedidos, Órdenes.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Todo empieza a sentirse como el mismo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Arial"/>
              </a:rPr>
              <a:t>Si una acción significa lo mismo, debería verse y funcionar igual en todo el sistema.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Guardar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65176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651760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Buscar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65176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651760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Filtrar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65176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651760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Editar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65176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651760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Volver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265176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651760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Cambiar página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475569"/>
                </a:solidFill>
                <a:latin typeface="Arial"/>
              </a:rPr>
              <a:t>Un lenguaje visual común. Sin cambio de marca ni de colores.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Qué mejora para quien lo usa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3017520" cy="1156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Más claridad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74289"/>
            <a:ext cx="3017520" cy="799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Una tarea por pantalla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1156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Más confianza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74289"/>
            <a:ext cx="3017520" cy="799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Los filtros usan toda la información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737360"/>
            <a:ext cx="3017520" cy="1156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Menos información de más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774289"/>
            <a:ext cx="3017520" cy="799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Las tablas muestran lo importante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3017520" cy="1156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Más consistencia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06009"/>
            <a:ext cx="3017520" cy="799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Las mismas acciones funcionan igual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8862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069080"/>
            <a:ext cx="3017520" cy="1156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Mejor uso en pantallas chicas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106009"/>
            <a:ext cx="3017520" cy="799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Solo donde tiene sentido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Qué mejora para Dinamic Clean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263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4869180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Más fácil agregar 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21254"/>
            <a:ext cx="4869180" cy="764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Una forma común de armar cada pantalla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1554480"/>
            <a:ext cx="53263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3660" y="1737360"/>
            <a:ext cx="4869180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Menos riesgo al cambiar algo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3660" y="2721254"/>
            <a:ext cx="4869180" cy="764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Cada pantalla con una responsabilidad clara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263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77640"/>
            <a:ext cx="4869180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Menos tiempo de capacitación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61534"/>
            <a:ext cx="4869180" cy="764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Las pantallas se repiten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3794760"/>
            <a:ext cx="53263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3977640"/>
            <a:ext cx="4869180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Más fácil seguir creciendo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60" y="4961534"/>
            <a:ext cx="4869180" cy="764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No se reinventa cada módulo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Beneficios esperados, no resultados medidos.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No se hace todo junto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172A"/>
                </a:solidFill>
                <a:latin typeface="Arial"/>
              </a:rPr>
              <a:t>No proponemos rehacer el sistema. Cada bloque se prueba y se valida antes de seguir.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139772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3977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D9488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1" y="3474720"/>
            <a:ext cx="125142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Navegación e ingreso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0685" y="2651760"/>
            <a:ext cx="139772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0685" y="2788920"/>
            <a:ext cx="13977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D9488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3837" y="3474720"/>
            <a:ext cx="125142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Ventas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1291" y="2651760"/>
            <a:ext cx="139772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1291" y="2788920"/>
            <a:ext cx="13977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D9488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4443" y="3474720"/>
            <a:ext cx="125142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Clientes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81897" y="2651760"/>
            <a:ext cx="139772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1897" y="2788920"/>
            <a:ext cx="13977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D9488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5049" y="3474720"/>
            <a:ext cx="125142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Pedido de compra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62502" y="2651760"/>
            <a:ext cx="139772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2502" y="2788920"/>
            <a:ext cx="13977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D9488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5654" y="3474720"/>
            <a:ext cx="125142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Cola de compras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3108" y="2651760"/>
            <a:ext cx="139772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3108" y="2788920"/>
            <a:ext cx="13977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D9488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6260" y="3474720"/>
            <a:ext cx="125142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Novedades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23714" y="2651760"/>
            <a:ext cx="139772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23714" y="2788920"/>
            <a:ext cx="13977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D9488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6866" y="3474720"/>
            <a:ext cx="125142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Home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46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Orden orientativo; se confirma después de las entrevistas.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Cómo sabremos si mejoró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Arial"/>
              </a:rPr>
              <a:t>La mejora se mide por tareas reales.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7472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3017520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F172A"/>
                </a:solidFill>
                <a:latin typeface="Arial"/>
              </a:rPr>
              <a:t>¿Encuentro un cliente más rápido?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011680"/>
            <a:ext cx="347472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3017520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F172A"/>
                </a:solidFill>
                <a:latin typeface="Arial"/>
              </a:rPr>
              <a:t>¿El filtro devuelve lo que esperaba?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47472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194560"/>
            <a:ext cx="3017520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F172A"/>
                </a:solidFill>
                <a:latin typeface="Arial"/>
              </a:rPr>
              <a:t>¿Entiendo qué hacer al entrar?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347472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3017520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F172A"/>
                </a:solidFill>
                <a:latin typeface="Arial"/>
              </a:rPr>
              <a:t>¿Armo un pedido sin recorrer todo el catálogo?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023360"/>
            <a:ext cx="347472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3017520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F172A"/>
                </a:solidFill>
                <a:latin typeface="Arial"/>
              </a:rPr>
              <a:t>¿Corrijo un cliente sin pedir ayuda?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023360"/>
            <a:ext cx="347472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206240"/>
            <a:ext cx="3017520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F172A"/>
                </a:solidFill>
                <a:latin typeface="Arial"/>
              </a:rPr>
              <a:t>¿Compras ve rápido qué pedido falta?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Próximo paso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Arial"/>
              </a:rPr>
              <a:t>Validar estas propuestas con quienes usan cada módulo todos los días.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6060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240279"/>
            <a:ext cx="220370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Ventas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2103120"/>
            <a:ext cx="26060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2736" y="2240279"/>
            <a:ext cx="220370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Compras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2103120"/>
            <a:ext cx="26060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2240279"/>
            <a:ext cx="220370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RRHH / Gerencia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24544" y="2103120"/>
            <a:ext cx="26060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2240279"/>
            <a:ext cx="220370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172A"/>
                </a:solidFill>
                <a:latin typeface="Arial"/>
              </a:rPr>
              <a:t>Administración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D9488"/>
                </a:solidFill>
                <a:latin typeface="Arial"/>
              </a:rPr>
              <a:t>Ordenar cómo se usa Dinamic Clean para que sea más claro, confiable y fácil de seguir creciendo.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578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Arial"/>
              </a:rPr>
              <a:t>Validar primero. Implementar después.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Dinamic 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